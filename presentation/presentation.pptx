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Bold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Inter" charset="1" panose="02000503000000020004"/>
      <p:regular r:id="rId22"/>
    </p:embeddedFont>
    <p:embeddedFont>
      <p:font typeface="Inter Medium" charset="1" panose="02000503000000020004"/>
      <p:regular r:id="rId23"/>
    </p:embeddedFont>
    <p:embeddedFont>
      <p:font typeface="Inter Bold" charset="1" panose="02000503000000020004"/>
      <p:regular r:id="rId24"/>
    </p:embeddedFont>
    <p:embeddedFont>
      <p:font typeface="Inter Semi-Bold" charset="1" panose="02000503000000020004"/>
      <p:regular r:id="rId25"/>
    </p:embeddedFont>
    <p:embeddedFont>
      <p:font typeface="Bebas Neue Cyrillic" charset="1" panose="0200050600000002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Замените название и укажите себя как автора.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Слайд для нескольких участников. Лишние колонки можно удалить.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Основной рабочий слайд: заголовок и свободное поле под текст, схему или изображение.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Пустой слайд под изображение, схему или крупный график.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Основной рабочий слайд: заголовок и свободное поле под текст, схему или изображение.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Пустой слайд под изображение, схему или крупный график.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Основной рабочий слайд: заголовок и свободное поле под текст, схему или изображение.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Основной рабочий слайд: заголовок и свободное поле под текст, схему или изображение.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Контакты и благодарность.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4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31473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21639" y="446618"/>
            <a:ext cx="2574207" cy="704850"/>
            <a:chOff x="0" y="0"/>
            <a:chExt cx="3432277" cy="9398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3432302" cy="939800"/>
            </a:xfrm>
            <a:custGeom>
              <a:avLst/>
              <a:gdLst/>
              <a:ahLst/>
              <a:cxnLst/>
              <a:rect r="r" b="b" t="t" l="l"/>
              <a:pathLst>
                <a:path h="939800" w="3432302">
                  <a:moveTo>
                    <a:pt x="0" y="0"/>
                  </a:moveTo>
                  <a:lnTo>
                    <a:pt x="3432302" y="0"/>
                  </a:lnTo>
                  <a:lnTo>
                    <a:pt x="3432302" y="939800"/>
                  </a:lnTo>
                  <a:lnTo>
                    <a:pt x="0" y="93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750" y="3571799"/>
            <a:ext cx="914400" cy="38100"/>
            <a:chOff x="0" y="0"/>
            <a:chExt cx="1219200" cy="5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" cy="50800"/>
            </a:xfrm>
            <a:custGeom>
              <a:avLst/>
              <a:gdLst/>
              <a:ahLst/>
              <a:cxnLst/>
              <a:rect r="r" b="b" t="t" l="l"/>
              <a:pathLst>
                <a:path h="508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4707" y="3854685"/>
            <a:ext cx="13684253" cy="289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4"/>
              </a:lnSpc>
            </a:pPr>
            <a:r>
              <a:rPr lang="en-US" b="true" sz="7200" spc="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Классификация представления движения на основе ЭЭГ и БИКС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4707" y="6890350"/>
            <a:ext cx="5211009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60">
                <a:solidFill>
                  <a:srgbClr val="4993F3"/>
                </a:solidFill>
                <a:latin typeface="Montserrat"/>
                <a:ea typeface="Montserrat"/>
                <a:cs typeface="Montserrat"/>
                <a:sym typeface="Montserrat"/>
              </a:rPr>
              <a:t>Трек:  Нейроинтерфейсы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153" y="9426578"/>
            <a:ext cx="2408301" cy="26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252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МОСКВА · 2026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281308" y="8805272"/>
            <a:ext cx="959720" cy="959720"/>
            <a:chOff x="0" y="0"/>
            <a:chExt cx="1279627" cy="1279627"/>
          </a:xfrm>
        </p:grpSpPr>
        <p:sp>
          <p:nvSpPr>
            <p:cNvPr name="Freeform 12" id="12" descr="Изображение выглядит как символ, силуэт, Графика, круг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1279652" cy="1279652"/>
            </a:xfrm>
            <a:custGeom>
              <a:avLst/>
              <a:gdLst/>
              <a:ahLst/>
              <a:cxnLst/>
              <a:rect r="r" b="b" t="t" l="l"/>
              <a:pathLst>
                <a:path h="1279652" w="1279652">
                  <a:moveTo>
                    <a:pt x="0" y="0"/>
                  </a:moveTo>
                  <a:lnTo>
                    <a:pt x="1279652" y="0"/>
                  </a:lnTo>
                  <a:lnTo>
                    <a:pt x="1279652" y="1279652"/>
                  </a:lnTo>
                  <a:lnTo>
                    <a:pt x="0" y="1279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538960" y="8911247"/>
            <a:ext cx="2841965" cy="743798"/>
            <a:chOff x="0" y="0"/>
            <a:chExt cx="3789286" cy="991730"/>
          </a:xfrm>
        </p:grpSpPr>
        <p:sp>
          <p:nvSpPr>
            <p:cNvPr name="Freeform 14" id="14" descr="Изображение выглядит как Шрифт, текст, Графика, логотип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3789299" cy="991743"/>
            </a:xfrm>
            <a:custGeom>
              <a:avLst/>
              <a:gdLst/>
              <a:ahLst/>
              <a:cxnLst/>
              <a:rect r="r" b="b" t="t" l="l"/>
              <a:pathLst>
                <a:path h="991743" w="3789299">
                  <a:moveTo>
                    <a:pt x="0" y="0"/>
                  </a:moveTo>
                  <a:lnTo>
                    <a:pt x="3789299" y="0"/>
                  </a:lnTo>
                  <a:lnTo>
                    <a:pt x="3789299" y="991743"/>
                  </a:lnTo>
                  <a:lnTo>
                    <a:pt x="0" y="991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3" r="0" b="-4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1409700"/>
            <a:ext cx="762000" cy="28575"/>
            <a:chOff x="0" y="0"/>
            <a:chExt cx="1016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73754" y="1637086"/>
            <a:ext cx="2581691" cy="2581691"/>
            <a:chOff x="0" y="0"/>
            <a:chExt cx="4178300" cy="4178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78300" cy="4178300"/>
            </a:xfrm>
            <a:custGeom>
              <a:avLst/>
              <a:gdLst/>
              <a:ahLst/>
              <a:cxnLst/>
              <a:rect r="r" b="b" t="t" l="l"/>
              <a:pathLst>
                <a:path h="4178300" w="4178300">
                  <a:moveTo>
                    <a:pt x="0" y="2089150"/>
                  </a:moveTo>
                  <a:cubicBezTo>
                    <a:pt x="0" y="935355"/>
                    <a:pt x="935355" y="0"/>
                    <a:pt x="2089150" y="0"/>
                  </a:cubicBezTo>
                  <a:cubicBezTo>
                    <a:pt x="3242945" y="0"/>
                    <a:pt x="4178300" y="935355"/>
                    <a:pt x="4178300" y="2089150"/>
                  </a:cubicBezTo>
                  <a:cubicBezTo>
                    <a:pt x="4178300" y="3242945"/>
                    <a:pt x="3242945" y="4178300"/>
                    <a:pt x="2089150" y="4178300"/>
                  </a:cubicBezTo>
                  <a:cubicBezTo>
                    <a:pt x="935355" y="4178300"/>
                    <a:pt x="0" y="3242945"/>
                    <a:pt x="0" y="2089150"/>
                  </a:cubicBezTo>
                  <a:close/>
                </a:path>
              </a:pathLst>
            </a:custGeom>
            <a:solidFill>
              <a:srgbClr val="F4F8FE"/>
            </a:solidFill>
            <a:ln w="28575" cap="sq">
              <a:solidFill>
                <a:srgbClr val="6B94CB"/>
              </a:solidFill>
              <a:prstDash val="dash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870694" y="1672398"/>
            <a:ext cx="2587812" cy="2542456"/>
            <a:chOff x="0" y="0"/>
            <a:chExt cx="4188206" cy="4114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88207" cy="4114800"/>
            </a:xfrm>
            <a:custGeom>
              <a:avLst/>
              <a:gdLst/>
              <a:ahLst/>
              <a:cxnLst/>
              <a:rect r="r" b="b" t="t" l="l"/>
              <a:pathLst>
                <a:path h="4114800" w="4188207">
                  <a:moveTo>
                    <a:pt x="0" y="0"/>
                  </a:moveTo>
                  <a:lnTo>
                    <a:pt x="4188207" y="0"/>
                  </a:lnTo>
                  <a:lnTo>
                    <a:pt x="4188207" y="4114800"/>
                  </a:lnTo>
                  <a:lnTo>
                    <a:pt x="0" y="411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" r="0" b="-8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188206" cy="411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94C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Место для фото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62655" y="1566033"/>
            <a:ext cx="2581691" cy="2581691"/>
            <a:chOff x="0" y="0"/>
            <a:chExt cx="4178300" cy="4178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8300" cy="4178300"/>
            </a:xfrm>
            <a:custGeom>
              <a:avLst/>
              <a:gdLst/>
              <a:ahLst/>
              <a:cxnLst/>
              <a:rect r="r" b="b" t="t" l="l"/>
              <a:pathLst>
                <a:path h="4178300" w="4178300">
                  <a:moveTo>
                    <a:pt x="0" y="2089150"/>
                  </a:moveTo>
                  <a:cubicBezTo>
                    <a:pt x="0" y="935355"/>
                    <a:pt x="935355" y="0"/>
                    <a:pt x="2089150" y="0"/>
                  </a:cubicBezTo>
                  <a:cubicBezTo>
                    <a:pt x="3242945" y="0"/>
                    <a:pt x="4178300" y="935355"/>
                    <a:pt x="4178300" y="2089150"/>
                  </a:cubicBezTo>
                  <a:cubicBezTo>
                    <a:pt x="4178300" y="3242945"/>
                    <a:pt x="3242945" y="4178300"/>
                    <a:pt x="2089150" y="4178300"/>
                  </a:cubicBezTo>
                  <a:cubicBezTo>
                    <a:pt x="935355" y="4178300"/>
                    <a:pt x="0" y="3242945"/>
                    <a:pt x="0" y="2089150"/>
                  </a:cubicBezTo>
                  <a:close/>
                </a:path>
              </a:pathLst>
            </a:custGeom>
            <a:solidFill>
              <a:srgbClr val="F4F8FE"/>
            </a:solidFill>
            <a:ln w="28575" cap="sq">
              <a:solidFill>
                <a:srgbClr val="6B94CB"/>
              </a:solidFill>
              <a:prstDash val="dash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259595" y="1601345"/>
            <a:ext cx="2587812" cy="2542456"/>
            <a:chOff x="0" y="0"/>
            <a:chExt cx="4188206" cy="4114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88207" cy="4114800"/>
            </a:xfrm>
            <a:custGeom>
              <a:avLst/>
              <a:gdLst/>
              <a:ahLst/>
              <a:cxnLst/>
              <a:rect r="r" b="b" t="t" l="l"/>
              <a:pathLst>
                <a:path h="4114800" w="4188207">
                  <a:moveTo>
                    <a:pt x="0" y="0"/>
                  </a:moveTo>
                  <a:lnTo>
                    <a:pt x="4188207" y="0"/>
                  </a:lnTo>
                  <a:lnTo>
                    <a:pt x="4188207" y="4114800"/>
                  </a:lnTo>
                  <a:lnTo>
                    <a:pt x="0" y="411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6054" t="0" r="-7605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4188206" cy="411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94C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Место для фото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03880" y="1530722"/>
            <a:ext cx="2581691" cy="2581691"/>
            <a:chOff x="0" y="0"/>
            <a:chExt cx="4178300" cy="4178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78300" cy="4178300"/>
            </a:xfrm>
            <a:custGeom>
              <a:avLst/>
              <a:gdLst/>
              <a:ahLst/>
              <a:cxnLst/>
              <a:rect r="r" b="b" t="t" l="l"/>
              <a:pathLst>
                <a:path h="4178300" w="4178300">
                  <a:moveTo>
                    <a:pt x="0" y="2089150"/>
                  </a:moveTo>
                  <a:cubicBezTo>
                    <a:pt x="0" y="935355"/>
                    <a:pt x="935355" y="0"/>
                    <a:pt x="2089150" y="0"/>
                  </a:cubicBezTo>
                  <a:cubicBezTo>
                    <a:pt x="3242945" y="0"/>
                    <a:pt x="4178300" y="935355"/>
                    <a:pt x="4178300" y="2089150"/>
                  </a:cubicBezTo>
                  <a:cubicBezTo>
                    <a:pt x="4178300" y="3242945"/>
                    <a:pt x="3242945" y="4178300"/>
                    <a:pt x="2089150" y="4178300"/>
                  </a:cubicBezTo>
                  <a:cubicBezTo>
                    <a:pt x="935355" y="4178300"/>
                    <a:pt x="0" y="3242945"/>
                    <a:pt x="0" y="2089150"/>
                  </a:cubicBezTo>
                  <a:close/>
                </a:path>
              </a:pathLst>
            </a:custGeom>
            <a:solidFill>
              <a:srgbClr val="F4F8FE"/>
            </a:solidFill>
            <a:ln w="28575" cap="sq">
              <a:solidFill>
                <a:srgbClr val="6B94CB"/>
              </a:solidFill>
              <a:prstDash val="dash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300819" y="1566033"/>
            <a:ext cx="2587812" cy="2542456"/>
            <a:chOff x="0" y="0"/>
            <a:chExt cx="4188206" cy="4114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88207" cy="4114800"/>
            </a:xfrm>
            <a:custGeom>
              <a:avLst/>
              <a:gdLst/>
              <a:ahLst/>
              <a:cxnLst/>
              <a:rect r="r" b="b" t="t" l="l"/>
              <a:pathLst>
                <a:path h="4114800" w="4188207">
                  <a:moveTo>
                    <a:pt x="0" y="0"/>
                  </a:moveTo>
                  <a:lnTo>
                    <a:pt x="4188207" y="0"/>
                  </a:lnTo>
                  <a:lnTo>
                    <a:pt x="4188207" y="4114800"/>
                  </a:lnTo>
                  <a:lnTo>
                    <a:pt x="0" y="4114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6054" t="0" r="-7605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188206" cy="411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94C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Место для фото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087600" y="444103"/>
            <a:ext cx="2482853" cy="679847"/>
            <a:chOff x="0" y="0"/>
            <a:chExt cx="3310471" cy="90646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3310509" cy="906399"/>
            </a:xfrm>
            <a:custGeom>
              <a:avLst/>
              <a:gdLst/>
              <a:ahLst/>
              <a:cxnLst/>
              <a:rect r="r" b="b" t="t" l="l"/>
              <a:pathLst>
                <a:path h="906399" w="3310509">
                  <a:moveTo>
                    <a:pt x="0" y="0"/>
                  </a:moveTo>
                  <a:lnTo>
                    <a:pt x="3310509" y="0"/>
                  </a:lnTo>
                  <a:lnTo>
                    <a:pt x="3310509" y="906399"/>
                  </a:lnTo>
                  <a:lnTo>
                    <a:pt x="0" y="906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0" b="-7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992057" y="9262186"/>
            <a:ext cx="690248" cy="687562"/>
          </a:xfrm>
          <a:custGeom>
            <a:avLst/>
            <a:gdLst/>
            <a:ahLst/>
            <a:cxnLst/>
            <a:rect r="r" b="b" t="t" l="l"/>
            <a:pathLst>
              <a:path h="687562" w="690248">
                <a:moveTo>
                  <a:pt x="0" y="0"/>
                </a:moveTo>
                <a:lnTo>
                  <a:pt x="690249" y="0"/>
                </a:lnTo>
                <a:lnTo>
                  <a:pt x="690249" y="687562"/>
                </a:lnTo>
                <a:lnTo>
                  <a:pt x="0" y="687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95" r="0" b="-195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890598" y="9385211"/>
            <a:ext cx="1796129" cy="470078"/>
            <a:chOff x="0" y="0"/>
            <a:chExt cx="2394839" cy="626770"/>
          </a:xfrm>
        </p:grpSpPr>
        <p:sp>
          <p:nvSpPr>
            <p:cNvPr name="Freeform 23" id="23" descr="Изображение выглядит как черный, снимок экрана, темнота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2394839" cy="626745"/>
            </a:xfrm>
            <a:custGeom>
              <a:avLst/>
              <a:gdLst/>
              <a:ahLst/>
              <a:cxnLst/>
              <a:rect r="r" b="b" t="t" l="l"/>
              <a:pathLst>
                <a:path h="626745" w="2394839">
                  <a:moveTo>
                    <a:pt x="0" y="0"/>
                  </a:moveTo>
                  <a:lnTo>
                    <a:pt x="2394839" y="0"/>
                  </a:lnTo>
                  <a:lnTo>
                    <a:pt x="2394839" y="626745"/>
                  </a:lnTo>
                  <a:lnTo>
                    <a:pt x="0" y="626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4" r="0" b="-4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426400" y="4963459"/>
            <a:ext cx="2545964" cy="81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6"/>
              </a:lnSpc>
            </a:pPr>
            <a:r>
              <a:rPr lang="en-US" sz="1543" b="true">
                <a:solidFill>
                  <a:srgbClr val="006D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ML</a:t>
            </a:r>
          </a:p>
          <a:p>
            <a:pPr algn="ctr">
              <a:lnSpc>
                <a:spcPts val="1635"/>
              </a:lnSpc>
            </a:pPr>
            <a:r>
              <a:rPr lang="en-US" sz="1543">
                <a:solidFill>
                  <a:srgbClr val="006DFF"/>
                </a:solidFill>
                <a:latin typeface="Montserrat"/>
                <a:ea typeface="Montserrat"/>
                <a:cs typeface="Montserrat"/>
                <a:sym typeface="Montserrat"/>
              </a:rPr>
              <a:t>МГУ, Физический факультет, 4 курс</a:t>
            </a:r>
          </a:p>
          <a:p>
            <a:pPr algn="ctr">
              <a:lnSpc>
                <a:spcPts val="1636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798264" y="1637086"/>
            <a:ext cx="2886037" cy="2810559"/>
          </a:xfrm>
          <a:custGeom>
            <a:avLst/>
            <a:gdLst/>
            <a:ahLst/>
            <a:cxnLst/>
            <a:rect r="r" b="b" t="t" l="l"/>
            <a:pathLst>
              <a:path h="2810559" w="2886037">
                <a:moveTo>
                  <a:pt x="0" y="0"/>
                </a:moveTo>
                <a:lnTo>
                  <a:pt x="2886038" y="0"/>
                </a:lnTo>
                <a:lnTo>
                  <a:pt x="2886038" y="2810560"/>
                </a:lnTo>
                <a:lnTo>
                  <a:pt x="0" y="2810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714" t="-4220" r="0" b="-48488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227057" y="1566033"/>
            <a:ext cx="2878418" cy="2810559"/>
          </a:xfrm>
          <a:custGeom>
            <a:avLst/>
            <a:gdLst/>
            <a:ahLst/>
            <a:cxnLst/>
            <a:rect r="r" b="b" t="t" l="l"/>
            <a:pathLst>
              <a:path h="2810559" w="2878418">
                <a:moveTo>
                  <a:pt x="0" y="0"/>
                </a:moveTo>
                <a:lnTo>
                  <a:pt x="2878418" y="0"/>
                </a:lnTo>
                <a:lnTo>
                  <a:pt x="2878418" y="2810560"/>
                </a:lnTo>
                <a:lnTo>
                  <a:pt x="0" y="28105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4117" t="-69710" r="-33368" b="-58995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995708" y="1530722"/>
            <a:ext cx="2993340" cy="2810559"/>
          </a:xfrm>
          <a:custGeom>
            <a:avLst/>
            <a:gdLst/>
            <a:ahLst/>
            <a:cxnLst/>
            <a:rect r="r" b="b" t="t" l="l"/>
            <a:pathLst>
              <a:path h="2810559" w="2993340">
                <a:moveTo>
                  <a:pt x="0" y="0"/>
                </a:moveTo>
                <a:lnTo>
                  <a:pt x="2993340" y="0"/>
                </a:lnTo>
                <a:lnTo>
                  <a:pt x="2993340" y="2810559"/>
                </a:lnTo>
                <a:lnTo>
                  <a:pt x="0" y="2810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7229" t="-36038" r="-67572" b="-82082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624662" y="5506314"/>
            <a:ext cx="2924833" cy="2865865"/>
          </a:xfrm>
          <a:custGeom>
            <a:avLst/>
            <a:gdLst/>
            <a:ahLst/>
            <a:cxnLst/>
            <a:rect r="r" b="b" t="t" l="l"/>
            <a:pathLst>
              <a:path h="2865865" w="2924833">
                <a:moveTo>
                  <a:pt x="0" y="0"/>
                </a:moveTo>
                <a:lnTo>
                  <a:pt x="2924833" y="0"/>
                </a:lnTo>
                <a:lnTo>
                  <a:pt x="2924833" y="2865864"/>
                </a:lnTo>
                <a:lnTo>
                  <a:pt x="0" y="28658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1676" t="-35" r="-3640" b="-17654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906453" y="5057473"/>
            <a:ext cx="2545964" cy="62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6"/>
              </a:lnSpc>
            </a:pPr>
            <a:r>
              <a:rPr lang="en-US" sz="1543" b="true">
                <a:solidFill>
                  <a:srgbClr val="006D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ML, Teamlead</a:t>
            </a:r>
          </a:p>
          <a:p>
            <a:pPr algn="ctr">
              <a:lnSpc>
                <a:spcPts val="1636"/>
              </a:lnSpc>
            </a:pPr>
            <a:r>
              <a:rPr lang="en-US" sz="1543">
                <a:solidFill>
                  <a:srgbClr val="006DFF"/>
                </a:solidFill>
                <a:latin typeface="Montserrat"/>
                <a:ea typeface="Montserrat"/>
                <a:cs typeface="Montserrat"/>
                <a:sym typeface="Montserrat"/>
              </a:rPr>
              <a:t>МГУ, Физический факультет, 4 курс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05476" y="4951108"/>
            <a:ext cx="2545964" cy="81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6"/>
              </a:lnSpc>
            </a:pPr>
            <a:r>
              <a:rPr lang="en-US" sz="1543" b="true">
                <a:solidFill>
                  <a:srgbClr val="006D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Signal Processing</a:t>
            </a:r>
          </a:p>
          <a:p>
            <a:pPr algn="ctr">
              <a:lnSpc>
                <a:spcPts val="1635"/>
              </a:lnSpc>
            </a:pPr>
            <a:r>
              <a:rPr lang="en-US" sz="1543">
                <a:solidFill>
                  <a:srgbClr val="006DFF"/>
                </a:solidFill>
                <a:latin typeface="Montserrat"/>
                <a:ea typeface="Montserrat"/>
                <a:cs typeface="Montserrat"/>
                <a:sym typeface="Montserrat"/>
              </a:rPr>
              <a:t>МГУ, Физический факультет, 4 курс</a:t>
            </a:r>
          </a:p>
          <a:p>
            <a:pPr algn="ctr">
              <a:lnSpc>
                <a:spcPts val="1636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073153" y="692153"/>
            <a:ext cx="2662790" cy="52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b="true" sz="3450" spc="6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Команда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7750" y="4600235"/>
            <a:ext cx="4233699" cy="37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5"/>
              </a:lnSpc>
            </a:pPr>
            <a:r>
              <a:rPr lang="en-US" sz="247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Наконечный Егор Ильич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62939" y="4564923"/>
            <a:ext cx="5277362" cy="37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5"/>
              </a:lnSpc>
            </a:pPr>
            <a:r>
              <a:rPr lang="en-US" sz="247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Калуга Михаил Владимирович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13586" y="4564923"/>
            <a:ext cx="5529743" cy="37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5"/>
              </a:lnSpc>
            </a:pPr>
            <a:r>
              <a:rPr lang="en-US" sz="247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Мустафин Тимир Сансызбаевич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972364" y="5506314"/>
            <a:ext cx="2935874" cy="2865865"/>
          </a:xfrm>
          <a:custGeom>
            <a:avLst/>
            <a:gdLst/>
            <a:ahLst/>
            <a:cxnLst/>
            <a:rect r="r" b="b" t="t" l="l"/>
            <a:pathLst>
              <a:path h="2865865" w="2935874">
                <a:moveTo>
                  <a:pt x="0" y="0"/>
                </a:moveTo>
                <a:lnTo>
                  <a:pt x="2935874" y="0"/>
                </a:lnTo>
                <a:lnTo>
                  <a:pt x="2935874" y="2865864"/>
                </a:lnTo>
                <a:lnTo>
                  <a:pt x="0" y="28658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5440" t="-4496" r="-35754" b="-70881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6974398" y="9483728"/>
            <a:ext cx="316659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96277" y="8476923"/>
            <a:ext cx="4375928" cy="37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5"/>
              </a:lnSpc>
            </a:pPr>
            <a:r>
              <a:rPr lang="en-US" sz="247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Исраелян Лика Павловна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81046" y="8476923"/>
            <a:ext cx="5656180" cy="37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5"/>
              </a:lnSpc>
            </a:pPr>
            <a:r>
              <a:rPr lang="en-US" sz="247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Омельянович Павел Алексеевич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847321" y="8954105"/>
            <a:ext cx="2545964" cy="61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6"/>
              </a:lnSpc>
            </a:pPr>
            <a:r>
              <a:rPr lang="en-US" sz="1543" b="true">
                <a:solidFill>
                  <a:srgbClr val="006D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Medical Research</a:t>
            </a:r>
          </a:p>
          <a:p>
            <a:pPr algn="ctr">
              <a:lnSpc>
                <a:spcPts val="1636"/>
              </a:lnSpc>
            </a:pPr>
            <a:r>
              <a:rPr lang="en-US" sz="1543">
                <a:solidFill>
                  <a:srgbClr val="006DFF"/>
                </a:solidFill>
                <a:latin typeface="Montserrat"/>
                <a:ea typeface="Montserrat"/>
                <a:cs typeface="Montserrat"/>
                <a:sym typeface="Montserrat"/>
              </a:rPr>
              <a:t>МГУ, Физический факультет, 4 курс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58260" y="9002335"/>
            <a:ext cx="2545964" cy="61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6"/>
              </a:lnSpc>
            </a:pPr>
            <a:r>
              <a:rPr lang="en-US" sz="1543" b="true">
                <a:solidFill>
                  <a:srgbClr val="006D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Manager</a:t>
            </a:r>
          </a:p>
          <a:p>
            <a:pPr algn="ctr">
              <a:lnSpc>
                <a:spcPts val="1636"/>
              </a:lnSpc>
            </a:pPr>
            <a:r>
              <a:rPr lang="en-US" sz="1543">
                <a:solidFill>
                  <a:srgbClr val="006DFF"/>
                </a:solidFill>
                <a:latin typeface="Montserrat"/>
                <a:ea typeface="Montserrat"/>
                <a:cs typeface="Montserrat"/>
                <a:sym typeface="Montserrat"/>
              </a:rPr>
              <a:t>МГУ, Физический факультет, 3 курс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1473698"/>
            <a:ext cx="762000" cy="28575"/>
            <a:chOff x="0" y="0"/>
            <a:chExt cx="1016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0" y="444103"/>
            <a:ext cx="2482853" cy="679847"/>
            <a:chOff x="0" y="0"/>
            <a:chExt cx="3310471" cy="906462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3310509" cy="906399"/>
            </a:xfrm>
            <a:custGeom>
              <a:avLst/>
              <a:gdLst/>
              <a:ahLst/>
              <a:cxnLst/>
              <a:rect r="r" b="b" t="t" l="l"/>
              <a:pathLst>
                <a:path h="906399" w="3310509">
                  <a:moveTo>
                    <a:pt x="0" y="0"/>
                  </a:moveTo>
                  <a:lnTo>
                    <a:pt x="3310509" y="0"/>
                  </a:lnTo>
                  <a:lnTo>
                    <a:pt x="3310509" y="906399"/>
                  </a:lnTo>
                  <a:lnTo>
                    <a:pt x="0" y="906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-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92057" y="9262186"/>
            <a:ext cx="690248" cy="687562"/>
          </a:xfrm>
          <a:custGeom>
            <a:avLst/>
            <a:gdLst/>
            <a:ahLst/>
            <a:cxnLst/>
            <a:rect r="r" b="b" t="t" l="l"/>
            <a:pathLst>
              <a:path h="687562" w="690248">
                <a:moveTo>
                  <a:pt x="0" y="0"/>
                </a:moveTo>
                <a:lnTo>
                  <a:pt x="690249" y="0"/>
                </a:lnTo>
                <a:lnTo>
                  <a:pt x="690249" y="687562"/>
                </a:lnTo>
                <a:lnTo>
                  <a:pt x="0" y="687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5" r="0" b="-19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90598" y="9385211"/>
            <a:ext cx="1796129" cy="470078"/>
            <a:chOff x="0" y="0"/>
            <a:chExt cx="2394839" cy="626770"/>
          </a:xfrm>
        </p:grpSpPr>
        <p:sp>
          <p:nvSpPr>
            <p:cNvPr name="Freeform 8" id="8" descr="Изображение выглядит как черный, снимок экрана, темнота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2394839" cy="626745"/>
            </a:xfrm>
            <a:custGeom>
              <a:avLst/>
              <a:gdLst/>
              <a:ahLst/>
              <a:cxnLst/>
              <a:rect r="r" b="b" t="t" l="l"/>
              <a:pathLst>
                <a:path h="626745" w="2394839">
                  <a:moveTo>
                    <a:pt x="0" y="0"/>
                  </a:moveTo>
                  <a:lnTo>
                    <a:pt x="2394839" y="0"/>
                  </a:lnTo>
                  <a:lnTo>
                    <a:pt x="2394839" y="626745"/>
                  </a:lnTo>
                  <a:lnTo>
                    <a:pt x="0" y="626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" r="0" b="-4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3153" y="777878"/>
            <a:ext cx="12162591" cy="54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b="true" sz="4200" spc="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Два маркера активности моторной коры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51995" y="9483728"/>
            <a:ext cx="339052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337181" y="2687456"/>
            <a:ext cx="6928099" cy="5389548"/>
            <a:chOff x="0" y="0"/>
            <a:chExt cx="1824684" cy="1419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4684" cy="1419469"/>
            </a:xfrm>
            <a:custGeom>
              <a:avLst/>
              <a:gdLst/>
              <a:ahLst/>
              <a:cxnLst/>
              <a:rect r="r" b="b" t="t" l="l"/>
              <a:pathLst>
                <a:path h="1419469" w="1824684">
                  <a:moveTo>
                    <a:pt x="0" y="0"/>
                  </a:moveTo>
                  <a:lnTo>
                    <a:pt x="1824684" y="0"/>
                  </a:lnTo>
                  <a:lnTo>
                    <a:pt x="1824684" y="1419469"/>
                  </a:lnTo>
                  <a:lnTo>
                    <a:pt x="0" y="1419469"/>
                  </a:ln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0E336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824684" cy="1467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71217" y="4494594"/>
            <a:ext cx="6660027" cy="317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 spc="94">
                <a:solidFill>
                  <a:srgbClr val="616B67"/>
                </a:solidFill>
                <a:latin typeface="Inter"/>
                <a:ea typeface="Inter"/>
                <a:cs typeface="Inter"/>
                <a:sym typeface="Inter"/>
              </a:rPr>
              <a:t>электрическая активность моторной коры</a:t>
            </a:r>
          </a:p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 spc="94">
                <a:solidFill>
                  <a:srgbClr val="616B67"/>
                </a:solidFill>
                <a:latin typeface="Inter"/>
                <a:ea typeface="Inter"/>
                <a:cs typeface="Inter"/>
                <a:sym typeface="Inter"/>
              </a:rPr>
              <a:t>быстрый отклик на кинестетическое представление</a:t>
            </a:r>
          </a:p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 spc="94">
                <a:solidFill>
                  <a:srgbClr val="616B67"/>
                </a:solidFill>
                <a:latin typeface="Inter"/>
                <a:ea typeface="Inter"/>
                <a:cs typeface="Inter"/>
                <a:sym typeface="Inter"/>
              </a:rPr>
              <a:t>изменение сенсомоторных ритмов 8–13 Гц (μ) и 13–30 Гц (β)</a:t>
            </a:r>
          </a:p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 spc="94">
                <a:solidFill>
                  <a:srgbClr val="616B67"/>
                </a:solidFill>
                <a:latin typeface="Inter"/>
                <a:ea typeface="Inter"/>
                <a:cs typeface="Inter"/>
                <a:sym typeface="Inter"/>
              </a:rPr>
              <a:t>пространственная зависимость активности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890598" y="3884994"/>
            <a:ext cx="48691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 spc="-49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Электроэнцефалограмма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90598" y="2948369"/>
            <a:ext cx="1472635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 spc="-109">
                <a:solidFill>
                  <a:srgbClr val="0E3368"/>
                </a:solidFill>
                <a:latin typeface="Inter Bold"/>
                <a:ea typeface="Inter Bold"/>
                <a:cs typeface="Inter Bold"/>
                <a:sym typeface="Inter Bold"/>
              </a:rPr>
              <a:t>ЭЭГ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55014" y="2665550"/>
            <a:ext cx="6874012" cy="5389548"/>
            <a:chOff x="0" y="0"/>
            <a:chExt cx="1810439" cy="14194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10439" cy="1419469"/>
            </a:xfrm>
            <a:custGeom>
              <a:avLst/>
              <a:gdLst/>
              <a:ahLst/>
              <a:cxnLst/>
              <a:rect r="r" b="b" t="t" l="l"/>
              <a:pathLst>
                <a:path h="1419469" w="1810439">
                  <a:moveTo>
                    <a:pt x="0" y="0"/>
                  </a:moveTo>
                  <a:lnTo>
                    <a:pt x="1810439" y="0"/>
                  </a:lnTo>
                  <a:lnTo>
                    <a:pt x="1810439" y="1419469"/>
                  </a:lnTo>
                  <a:lnTo>
                    <a:pt x="0" y="1419469"/>
                  </a:ln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0E336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810439" cy="14670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857869" y="3884994"/>
            <a:ext cx="3726153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49" b="true">
                <a:solidFill>
                  <a:srgbClr val="8930A2"/>
                </a:solidFill>
                <a:latin typeface="Inter Medium"/>
                <a:ea typeface="Inter Medium"/>
                <a:cs typeface="Inter Medium"/>
                <a:sym typeface="Inter Medium"/>
              </a:rPr>
              <a:t>Ближняя инфракрасная спектроскопия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57869" y="2948369"/>
            <a:ext cx="2636417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 spc="-109">
                <a:solidFill>
                  <a:srgbClr val="8930A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БИКС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96042" y="4702175"/>
            <a:ext cx="6391956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 spc="94">
                <a:solidFill>
                  <a:srgbClr val="616B67"/>
                </a:solidFill>
                <a:latin typeface="Inter"/>
                <a:ea typeface="Inter"/>
                <a:cs typeface="Inter"/>
                <a:sym typeface="Inter"/>
              </a:rPr>
              <a:t>гемодинамический ответ</a:t>
            </a:r>
          </a:p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 spc="94">
                <a:solidFill>
                  <a:srgbClr val="616B67"/>
                </a:solidFill>
                <a:latin typeface="Inter"/>
                <a:ea typeface="Inter"/>
                <a:cs typeface="Inter"/>
                <a:sym typeface="Inter"/>
              </a:rPr>
              <a:t>изменение концентрации HbO и HbR</a:t>
            </a:r>
          </a:p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 spc="94">
                <a:solidFill>
                  <a:srgbClr val="616B67"/>
                </a:solidFill>
                <a:latin typeface="Inter"/>
                <a:ea typeface="Inter"/>
                <a:cs typeface="Inter"/>
                <a:sym typeface="Inter"/>
              </a:rPr>
              <a:t>медленная динамика, отложенный отклик на кинестетическое представление</a:t>
            </a:r>
          </a:p>
          <a:p>
            <a:pPr algn="l" marL="431801" indent="-215900" lvl="1">
              <a:lnSpc>
                <a:spcPts val="3600"/>
              </a:lnSpc>
              <a:buFont typeface="Arial"/>
              <a:buChar char="•"/>
            </a:pPr>
            <a:r>
              <a:rPr lang="en-US" sz="2000" spc="94">
                <a:solidFill>
                  <a:srgbClr val="616B67"/>
                </a:solidFill>
                <a:latin typeface="Inter"/>
                <a:ea typeface="Inter"/>
                <a:cs typeface="Inter"/>
                <a:sym typeface="Inter"/>
              </a:rPr>
              <a:t>локальные изменения притока крови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87600" y="444103"/>
            <a:ext cx="2482853" cy="679847"/>
            <a:chOff x="0" y="0"/>
            <a:chExt cx="3310471" cy="906462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3310509" cy="906399"/>
            </a:xfrm>
            <a:custGeom>
              <a:avLst/>
              <a:gdLst/>
              <a:ahLst/>
              <a:cxnLst/>
              <a:rect r="r" b="b" t="t" l="l"/>
              <a:pathLst>
                <a:path h="906399" w="3310509">
                  <a:moveTo>
                    <a:pt x="0" y="0"/>
                  </a:moveTo>
                  <a:lnTo>
                    <a:pt x="3310509" y="0"/>
                  </a:lnTo>
                  <a:lnTo>
                    <a:pt x="3310509" y="906399"/>
                  </a:lnTo>
                  <a:lnTo>
                    <a:pt x="0" y="906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2057" y="9262186"/>
            <a:ext cx="690248" cy="687562"/>
          </a:xfrm>
          <a:custGeom>
            <a:avLst/>
            <a:gdLst/>
            <a:ahLst/>
            <a:cxnLst/>
            <a:rect r="r" b="b" t="t" l="l"/>
            <a:pathLst>
              <a:path h="687562" w="690248">
                <a:moveTo>
                  <a:pt x="0" y="0"/>
                </a:moveTo>
                <a:lnTo>
                  <a:pt x="690249" y="0"/>
                </a:lnTo>
                <a:lnTo>
                  <a:pt x="690249" y="687562"/>
                </a:lnTo>
                <a:lnTo>
                  <a:pt x="0" y="687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5" r="0" b="-195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90598" y="9385211"/>
            <a:ext cx="1796129" cy="470078"/>
            <a:chOff x="0" y="0"/>
            <a:chExt cx="2394839" cy="626770"/>
          </a:xfrm>
        </p:grpSpPr>
        <p:sp>
          <p:nvSpPr>
            <p:cNvPr name="Freeform 6" id="6" descr="Изображение выглядит как черный, снимок экрана, темнота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2394839" cy="626745"/>
            </a:xfrm>
            <a:custGeom>
              <a:avLst/>
              <a:gdLst/>
              <a:ahLst/>
              <a:cxnLst/>
              <a:rect r="r" b="b" t="t" l="l"/>
              <a:pathLst>
                <a:path h="626745" w="2394839">
                  <a:moveTo>
                    <a:pt x="0" y="0"/>
                  </a:moveTo>
                  <a:lnTo>
                    <a:pt x="2394839" y="0"/>
                  </a:lnTo>
                  <a:lnTo>
                    <a:pt x="2394839" y="626745"/>
                  </a:lnTo>
                  <a:lnTo>
                    <a:pt x="0" y="626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" r="0" b="-4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0306" y="1283198"/>
            <a:ext cx="762000" cy="28575"/>
            <a:chOff x="0" y="0"/>
            <a:chExt cx="10160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821333" y="696807"/>
            <a:ext cx="1185333" cy="331893"/>
          </a:xfrm>
          <a:custGeom>
            <a:avLst/>
            <a:gdLst/>
            <a:ahLst/>
            <a:cxnLst/>
            <a:rect r="r" b="b" t="t" l="l"/>
            <a:pathLst>
              <a:path h="331893" w="1185333">
                <a:moveTo>
                  <a:pt x="0" y="0"/>
                </a:moveTo>
                <a:lnTo>
                  <a:pt x="1185334" y="0"/>
                </a:lnTo>
                <a:lnTo>
                  <a:pt x="1185334" y="331893"/>
                </a:lnTo>
                <a:lnTo>
                  <a:pt x="0" y="331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55653" y="1573817"/>
            <a:ext cx="8052244" cy="1096433"/>
            <a:chOff x="0" y="0"/>
            <a:chExt cx="2120756" cy="2887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44000"/>
                  </a:srgbClr>
                </a:gs>
                <a:gs pos="100000">
                  <a:srgbClr val="CB6CE6">
                    <a:alpha val="44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5653" y="4100059"/>
            <a:ext cx="8052244" cy="1096433"/>
            <a:chOff x="0" y="0"/>
            <a:chExt cx="2120756" cy="2887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5653" y="2832176"/>
            <a:ext cx="8052244" cy="1096433"/>
            <a:chOff x="0" y="0"/>
            <a:chExt cx="2120756" cy="2887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5653" y="5367942"/>
            <a:ext cx="8052244" cy="1096433"/>
            <a:chOff x="0" y="0"/>
            <a:chExt cx="2120756" cy="2887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69558" y="6857894"/>
            <a:ext cx="8052244" cy="1096433"/>
            <a:chOff x="0" y="0"/>
            <a:chExt cx="2120756" cy="2887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07055" y="1573817"/>
            <a:ext cx="8052244" cy="1096433"/>
            <a:chOff x="0" y="0"/>
            <a:chExt cx="2120756" cy="2887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gradFill rotWithShape="true">
              <a:gsLst>
                <a:gs pos="0">
                  <a:srgbClr val="7F30CB">
                    <a:alpha val="45000"/>
                  </a:srgbClr>
                </a:gs>
                <a:gs pos="100000">
                  <a:srgbClr val="01DCBA">
                    <a:alpha val="45000"/>
                  </a:srgbClr>
                </a:gs>
              </a:gsLst>
              <a:lin ang="189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07055" y="4100059"/>
            <a:ext cx="8052244" cy="1096433"/>
            <a:chOff x="0" y="0"/>
            <a:chExt cx="2120756" cy="2887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69558" y="8116252"/>
            <a:ext cx="8052244" cy="1096433"/>
            <a:chOff x="0" y="0"/>
            <a:chExt cx="2120756" cy="28877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07055" y="2832176"/>
            <a:ext cx="8052244" cy="1096433"/>
            <a:chOff x="0" y="0"/>
            <a:chExt cx="2120756" cy="2887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207055" y="5367942"/>
            <a:ext cx="8052244" cy="1096433"/>
            <a:chOff x="0" y="0"/>
            <a:chExt cx="2120756" cy="28877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-3337179">
            <a:off x="3682322" y="6403591"/>
            <a:ext cx="872398" cy="1557854"/>
          </a:xfrm>
          <a:custGeom>
            <a:avLst/>
            <a:gdLst/>
            <a:ahLst/>
            <a:cxnLst/>
            <a:rect r="r" b="b" t="t" l="l"/>
            <a:pathLst>
              <a:path h="1557854" w="872398">
                <a:moveTo>
                  <a:pt x="0" y="0"/>
                </a:moveTo>
                <a:lnTo>
                  <a:pt x="872398" y="0"/>
                </a:lnTo>
                <a:lnTo>
                  <a:pt x="872398" y="1557854"/>
                </a:lnTo>
                <a:lnTo>
                  <a:pt x="0" y="15578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6971940" y="9483728"/>
            <a:ext cx="319116" cy="24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5653" y="659269"/>
            <a:ext cx="13867448" cy="46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b="true" sz="3600" spc="3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Параллельная обработка сигналов           объединение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788663" y="1894204"/>
            <a:ext cx="591979" cy="57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4"/>
              </a:lnSpc>
              <a:spcBef>
                <a:spcPct val="0"/>
              </a:spcBef>
            </a:pPr>
            <a:r>
              <a:rPr lang="en-US" sz="4173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ЭЭГ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20306" y="1931975"/>
            <a:ext cx="1894558" cy="50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  <a:spcBef>
                <a:spcPct val="0"/>
              </a:spcBef>
            </a:pPr>
            <a:r>
              <a:rPr lang="en-US" sz="3673">
                <a:solidFill>
                  <a:srgbClr val="FAFAF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Ветка 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00650" y="1931975"/>
            <a:ext cx="1894558" cy="50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  <a:spcBef>
                <a:spcPct val="0"/>
              </a:spcBef>
            </a:pPr>
            <a:r>
              <a:rPr lang="en-US" sz="3673">
                <a:solidFill>
                  <a:srgbClr val="FAFAF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Ветка 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295208" y="1894204"/>
            <a:ext cx="859631" cy="57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4"/>
              </a:lnSpc>
              <a:spcBef>
                <a:spcPct val="0"/>
              </a:spcBef>
            </a:pPr>
            <a:r>
              <a:rPr lang="en-US" sz="4173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БИКС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0" y="3232226"/>
            <a:ext cx="5069558" cy="40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6"/>
              </a:lnSpc>
              <a:spcBef>
                <a:spcPct val="0"/>
              </a:spcBef>
            </a:pPr>
            <a:r>
              <a:rPr lang="en-US" b="true" sz="2873" spc="-45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предобработка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07481" y="4233409"/>
            <a:ext cx="7600417" cy="106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617" spc="-41" b="true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выделение пространственных,</a:t>
            </a:r>
          </a:p>
          <a:p>
            <a:pPr algn="l">
              <a:lnSpc>
                <a:spcPts val="2774"/>
              </a:lnSpc>
            </a:pPr>
            <a:r>
              <a:rPr lang="en-US" sz="2617" spc="-41" b="true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энергетических и межполушарных признаков</a:t>
            </a:r>
          </a:p>
          <a:p>
            <a:pPr algn="l">
              <a:lnSpc>
                <a:spcPts val="2775"/>
              </a:lnSpc>
              <a:spcBef>
                <a:spcPct val="0"/>
              </a:spcBef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1207481" y="5735042"/>
            <a:ext cx="7600417" cy="106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617" spc="-41" b="true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 EEG-классификатор</a:t>
            </a: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5"/>
              </a:lnSpc>
              <a:spcBef>
                <a:spcPct val="0"/>
              </a:spcBef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8471888" y="3232226"/>
            <a:ext cx="5069558" cy="40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6"/>
              </a:lnSpc>
              <a:spcBef>
                <a:spcPct val="0"/>
              </a:spcBef>
            </a:pPr>
            <a:r>
              <a:rPr lang="en-US" b="true" sz="2873" spc="-45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предобработка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31081" y="4233409"/>
            <a:ext cx="7600417" cy="106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617" spc="-41" b="true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выделение временных признаков</a:t>
            </a:r>
          </a:p>
          <a:p>
            <a:pPr algn="l">
              <a:lnSpc>
                <a:spcPts val="2774"/>
              </a:lnSpc>
            </a:pPr>
            <a:r>
              <a:rPr lang="en-US" sz="2617" spc="-41" b="true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с учётом гемодинамической задержки</a:t>
            </a:r>
          </a:p>
          <a:p>
            <a:pPr algn="l">
              <a:lnSpc>
                <a:spcPts val="2775"/>
              </a:lnSpc>
              <a:spcBef>
                <a:spcPct val="0"/>
              </a:spcBef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9531081" y="5735042"/>
            <a:ext cx="7600417" cy="71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617" spc="-41" b="true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NIRS-классификатор</a:t>
            </a:r>
          </a:p>
          <a:p>
            <a:pPr algn="l">
              <a:lnSpc>
                <a:spcPts val="2775"/>
              </a:lnSpc>
              <a:spcBef>
                <a:spcPct val="0"/>
              </a:spcBef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6820881" y="7220618"/>
            <a:ext cx="11325750" cy="141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617" spc="-41" b="true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мультимодальный fusion</a:t>
            </a: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5"/>
              </a:lnSpc>
              <a:spcBef>
                <a:spcPct val="0"/>
              </a:spcBef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5343792" y="8440102"/>
            <a:ext cx="11325750" cy="141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617" spc="-41" b="true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классификация: покой, левая рука, правая рука</a:t>
            </a: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5"/>
              </a:lnSpc>
              <a:spcBef>
                <a:spcPct val="0"/>
              </a:spcBef>
            </a:pPr>
          </a:p>
        </p:txBody>
      </p:sp>
      <p:sp>
        <p:nvSpPr>
          <p:cNvPr name="Freeform 55" id="55"/>
          <p:cNvSpPr/>
          <p:nvPr/>
        </p:nvSpPr>
        <p:spPr>
          <a:xfrm flipH="false" flipV="true" rot="-7237980">
            <a:off x="13578090" y="6358016"/>
            <a:ext cx="872398" cy="1557854"/>
          </a:xfrm>
          <a:custGeom>
            <a:avLst/>
            <a:gdLst/>
            <a:ahLst/>
            <a:cxnLst/>
            <a:rect r="r" b="b" t="t" l="l"/>
            <a:pathLst>
              <a:path h="1557854" w="872398">
                <a:moveTo>
                  <a:pt x="0" y="1557853"/>
                </a:moveTo>
                <a:lnTo>
                  <a:pt x="872398" y="1557853"/>
                </a:lnTo>
                <a:lnTo>
                  <a:pt x="872398" y="0"/>
                </a:lnTo>
                <a:lnTo>
                  <a:pt x="0" y="0"/>
                </a:lnTo>
                <a:lnTo>
                  <a:pt x="0" y="1557853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1473698"/>
            <a:ext cx="762000" cy="28575"/>
            <a:chOff x="0" y="0"/>
            <a:chExt cx="1016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0" y="444103"/>
            <a:ext cx="2482853" cy="679847"/>
            <a:chOff x="0" y="0"/>
            <a:chExt cx="3310471" cy="906462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3310509" cy="906399"/>
            </a:xfrm>
            <a:custGeom>
              <a:avLst/>
              <a:gdLst/>
              <a:ahLst/>
              <a:cxnLst/>
              <a:rect r="r" b="b" t="t" l="l"/>
              <a:pathLst>
                <a:path h="906399" w="3310509">
                  <a:moveTo>
                    <a:pt x="0" y="0"/>
                  </a:moveTo>
                  <a:lnTo>
                    <a:pt x="3310509" y="0"/>
                  </a:lnTo>
                  <a:lnTo>
                    <a:pt x="3310509" y="906399"/>
                  </a:lnTo>
                  <a:lnTo>
                    <a:pt x="0" y="906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-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67706" y="9258300"/>
            <a:ext cx="690248" cy="687562"/>
          </a:xfrm>
          <a:custGeom>
            <a:avLst/>
            <a:gdLst/>
            <a:ahLst/>
            <a:cxnLst/>
            <a:rect r="r" b="b" t="t" l="l"/>
            <a:pathLst>
              <a:path h="687562" w="690248">
                <a:moveTo>
                  <a:pt x="0" y="0"/>
                </a:moveTo>
                <a:lnTo>
                  <a:pt x="690248" y="0"/>
                </a:lnTo>
                <a:lnTo>
                  <a:pt x="690248" y="687562"/>
                </a:lnTo>
                <a:lnTo>
                  <a:pt x="0" y="687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5" r="0" b="-19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09750" y="9372514"/>
            <a:ext cx="1796129" cy="470078"/>
            <a:chOff x="0" y="0"/>
            <a:chExt cx="2394839" cy="626770"/>
          </a:xfrm>
        </p:grpSpPr>
        <p:sp>
          <p:nvSpPr>
            <p:cNvPr name="Freeform 8" id="8" descr="Изображение выглядит как черный, снимок экрана, темнота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2394839" cy="626745"/>
            </a:xfrm>
            <a:custGeom>
              <a:avLst/>
              <a:gdLst/>
              <a:ahLst/>
              <a:cxnLst/>
              <a:rect r="r" b="b" t="t" l="l"/>
              <a:pathLst>
                <a:path h="626745" w="2394839">
                  <a:moveTo>
                    <a:pt x="0" y="0"/>
                  </a:moveTo>
                  <a:lnTo>
                    <a:pt x="2394839" y="0"/>
                  </a:lnTo>
                  <a:lnTo>
                    <a:pt x="2394839" y="626745"/>
                  </a:lnTo>
                  <a:lnTo>
                    <a:pt x="0" y="626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" r="0" b="-4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8770" y="2862156"/>
            <a:ext cx="8031025" cy="3024423"/>
            <a:chOff x="0" y="0"/>
            <a:chExt cx="1914353" cy="7209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4353" cy="720931"/>
            </a:xfrm>
            <a:custGeom>
              <a:avLst/>
              <a:gdLst/>
              <a:ahLst/>
              <a:cxnLst/>
              <a:rect r="r" b="b" t="t" l="l"/>
              <a:pathLst>
                <a:path h="720931" w="1914353">
                  <a:moveTo>
                    <a:pt x="0" y="0"/>
                  </a:moveTo>
                  <a:lnTo>
                    <a:pt x="1914353" y="0"/>
                  </a:lnTo>
                  <a:lnTo>
                    <a:pt x="1914353" y="720931"/>
                  </a:lnTo>
                  <a:lnTo>
                    <a:pt x="0" y="720931"/>
                  </a:ln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14353" cy="768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0702" y="5246944"/>
            <a:ext cx="8059093" cy="639635"/>
            <a:chOff x="0" y="0"/>
            <a:chExt cx="1921043" cy="1524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1043" cy="152469"/>
            </a:xfrm>
            <a:custGeom>
              <a:avLst/>
              <a:gdLst/>
              <a:ahLst/>
              <a:cxnLst/>
              <a:rect r="r" b="b" t="t" l="l"/>
              <a:pathLst>
                <a:path h="152469" w="1921043">
                  <a:moveTo>
                    <a:pt x="0" y="0"/>
                  </a:moveTo>
                  <a:lnTo>
                    <a:pt x="1921043" y="0"/>
                  </a:lnTo>
                  <a:lnTo>
                    <a:pt x="1921043" y="152469"/>
                  </a:lnTo>
                  <a:lnTo>
                    <a:pt x="0" y="152469"/>
                  </a:lnTo>
                  <a:close/>
                </a:path>
              </a:pathLst>
            </a:custGeom>
            <a:solidFill>
              <a:srgbClr val="006DFF">
                <a:alpha val="48627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1921043" cy="11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86727" y="6209316"/>
            <a:ext cx="13851565" cy="3024423"/>
            <a:chOff x="0" y="0"/>
            <a:chExt cx="3301793" cy="7209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01793" cy="720931"/>
            </a:xfrm>
            <a:custGeom>
              <a:avLst/>
              <a:gdLst/>
              <a:ahLst/>
              <a:cxnLst/>
              <a:rect r="r" b="b" t="t" l="l"/>
              <a:pathLst>
                <a:path h="720931" w="3301793">
                  <a:moveTo>
                    <a:pt x="0" y="0"/>
                  </a:moveTo>
                  <a:lnTo>
                    <a:pt x="3301793" y="0"/>
                  </a:lnTo>
                  <a:lnTo>
                    <a:pt x="3301793" y="720931"/>
                  </a:lnTo>
                  <a:lnTo>
                    <a:pt x="0" y="720931"/>
                  </a:ln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301793" cy="768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413965" y="8371450"/>
            <a:ext cx="3915061" cy="576405"/>
            <a:chOff x="0" y="0"/>
            <a:chExt cx="933232" cy="1373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3232" cy="137397"/>
            </a:xfrm>
            <a:custGeom>
              <a:avLst/>
              <a:gdLst/>
              <a:ahLst/>
              <a:cxnLst/>
              <a:rect r="r" b="b" t="t" l="l"/>
              <a:pathLst>
                <a:path h="137397" w="933232">
                  <a:moveTo>
                    <a:pt x="0" y="0"/>
                  </a:moveTo>
                  <a:lnTo>
                    <a:pt x="933232" y="0"/>
                  </a:lnTo>
                  <a:lnTo>
                    <a:pt x="933232" y="137397"/>
                  </a:lnTo>
                  <a:lnTo>
                    <a:pt x="0" y="137397"/>
                  </a:lnTo>
                  <a:close/>
                </a:path>
              </a:pathLst>
            </a:custGeom>
            <a:solidFill>
              <a:srgbClr val="006DFF">
                <a:alpha val="65882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933232" cy="9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6829847" y="7280253"/>
            <a:ext cx="1185726" cy="332003"/>
          </a:xfrm>
          <a:custGeom>
            <a:avLst/>
            <a:gdLst/>
            <a:ahLst/>
            <a:cxnLst/>
            <a:rect r="r" b="b" t="t" l="l"/>
            <a:pathLst>
              <a:path h="332003" w="1185726">
                <a:moveTo>
                  <a:pt x="0" y="0"/>
                </a:moveTo>
                <a:lnTo>
                  <a:pt x="1185726" y="0"/>
                </a:lnTo>
                <a:lnTo>
                  <a:pt x="1185726" y="332003"/>
                </a:lnTo>
                <a:lnTo>
                  <a:pt x="0" y="332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585118" y="1912379"/>
            <a:ext cx="662155" cy="185404"/>
          </a:xfrm>
          <a:custGeom>
            <a:avLst/>
            <a:gdLst/>
            <a:ahLst/>
            <a:cxnLst/>
            <a:rect r="r" b="b" t="t" l="l"/>
            <a:pathLst>
              <a:path h="185404" w="662155">
                <a:moveTo>
                  <a:pt x="0" y="0"/>
                </a:moveTo>
                <a:lnTo>
                  <a:pt x="662155" y="0"/>
                </a:lnTo>
                <a:lnTo>
                  <a:pt x="662155" y="185404"/>
                </a:lnTo>
                <a:lnTo>
                  <a:pt x="0" y="1854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73153" y="777878"/>
            <a:ext cx="12941975" cy="54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b="true" sz="4200" spc="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ЭЭГ: пространственно-частотные признаки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951995" y="9483728"/>
            <a:ext cx="29087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057" y="1856726"/>
            <a:ext cx="16546235" cy="33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2600" spc="-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Представление движения                изменение сенсомоторных ритмов  в разных частотных диапазонах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-1322287" y="2990466"/>
            <a:ext cx="7177858" cy="4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3223" spc="151">
                <a:solidFill>
                  <a:srgbClr val="6B94C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 01 / FILTER BANK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7045" y="3562459"/>
            <a:ext cx="8136727" cy="41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b="true" sz="3112" spc="-49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разделение на частотные диапазоны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6479" y="4082864"/>
            <a:ext cx="7177858" cy="60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5"/>
              </a:lnSpc>
              <a:spcBef>
                <a:spcPct val="0"/>
              </a:spcBef>
            </a:pPr>
            <a:r>
              <a:rPr lang="en-US" b="true" sz="2260" spc="-36">
                <a:solidFill>
                  <a:srgbClr val="616B67"/>
                </a:solidFill>
                <a:latin typeface="Inter Medium"/>
                <a:ea typeface="Inter Medium"/>
                <a:cs typeface="Inter Medium"/>
                <a:sym typeface="Inter Medium"/>
              </a:rPr>
              <a:t>причинная фильтрация ЭЭГ в шести частотных диапазонах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9952" y="6362829"/>
            <a:ext cx="11475556" cy="4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3223" spc="319">
                <a:solidFill>
                  <a:srgbClr val="6B94C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03/ REIMANNIAN FEATURES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66642" y="7297931"/>
            <a:ext cx="13008541" cy="41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b="true" sz="3112" spc="-49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ковариации                   касательное пространство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11209" y="8498894"/>
            <a:ext cx="10075708" cy="447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3181" spc="381">
                <a:solidFill>
                  <a:srgbClr val="FAFAF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396  EEG-признаков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50000" y="7750102"/>
            <a:ext cx="11475556" cy="30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5"/>
              </a:lnSpc>
              <a:spcBef>
                <a:spcPct val="0"/>
              </a:spcBef>
            </a:pPr>
            <a:r>
              <a:rPr lang="en-US" b="true" sz="2260" spc="-36">
                <a:solidFill>
                  <a:srgbClr val="616B67"/>
                </a:solidFill>
                <a:latin typeface="Inter Medium"/>
                <a:ea typeface="Inter Medium"/>
                <a:cs typeface="Inter Medium"/>
                <a:sym typeface="Inter Medium"/>
              </a:rPr>
              <a:t>  ковариации усредняются по 5 последним окнам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05960" y="5433136"/>
            <a:ext cx="6305788" cy="447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1"/>
              </a:lnSpc>
            </a:pPr>
            <a:r>
              <a:rPr lang="en-US" sz="3180" spc="-49">
                <a:solidFill>
                  <a:srgbClr val="FAFAF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4–8 | 8–12 | 12–16 | 16–20 | 20–24 | 24–30 Hz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427346" y="2666992"/>
            <a:ext cx="8110947" cy="3264179"/>
          </a:xfrm>
          <a:custGeom>
            <a:avLst/>
            <a:gdLst/>
            <a:ahLst/>
            <a:cxnLst/>
            <a:rect r="r" b="b" t="t" l="l"/>
            <a:pathLst>
              <a:path h="3264179" w="8110947">
                <a:moveTo>
                  <a:pt x="0" y="0"/>
                </a:moveTo>
                <a:lnTo>
                  <a:pt x="8110947" y="0"/>
                </a:lnTo>
                <a:lnTo>
                  <a:pt x="8110947" y="3264180"/>
                </a:lnTo>
                <a:lnTo>
                  <a:pt x="0" y="3264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9747598" y="3649391"/>
            <a:ext cx="6554510" cy="417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8"/>
              </a:lnSpc>
            </a:pPr>
            <a:r>
              <a:rPr lang="en-US" b="true" sz="3111" spc="-4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пространственная структура ЭЭГ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67826" y="4054604"/>
            <a:ext cx="7177859" cy="86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b="true" sz="2259" spc="-35">
                <a:solidFill>
                  <a:srgbClr val="616B67"/>
                </a:solidFill>
                <a:latin typeface="Inter Bold"/>
                <a:ea typeface="Inter Bold"/>
                <a:cs typeface="Inter Bold"/>
                <a:sym typeface="Inter Bold"/>
              </a:rPr>
              <a:t>для каждой частотной полосы строится ковариационная матрица 11 сенсомоторных каналов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27622" y="3141547"/>
            <a:ext cx="2355413" cy="44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3222" spc="151">
                <a:solidFill>
                  <a:srgbClr val="6B94C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02/ COVARIANCE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87600" y="444103"/>
            <a:ext cx="2482853" cy="679847"/>
            <a:chOff x="0" y="0"/>
            <a:chExt cx="3310471" cy="906462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3310509" cy="906399"/>
            </a:xfrm>
            <a:custGeom>
              <a:avLst/>
              <a:gdLst/>
              <a:ahLst/>
              <a:cxnLst/>
              <a:rect r="r" b="b" t="t" l="l"/>
              <a:pathLst>
                <a:path h="906399" w="3310509">
                  <a:moveTo>
                    <a:pt x="0" y="0"/>
                  </a:moveTo>
                  <a:lnTo>
                    <a:pt x="3310509" y="0"/>
                  </a:lnTo>
                  <a:lnTo>
                    <a:pt x="3310509" y="906399"/>
                  </a:lnTo>
                  <a:lnTo>
                    <a:pt x="0" y="906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2057" y="9262186"/>
            <a:ext cx="690248" cy="687562"/>
          </a:xfrm>
          <a:custGeom>
            <a:avLst/>
            <a:gdLst/>
            <a:ahLst/>
            <a:cxnLst/>
            <a:rect r="r" b="b" t="t" l="l"/>
            <a:pathLst>
              <a:path h="687562" w="690248">
                <a:moveTo>
                  <a:pt x="0" y="0"/>
                </a:moveTo>
                <a:lnTo>
                  <a:pt x="690249" y="0"/>
                </a:lnTo>
                <a:lnTo>
                  <a:pt x="690249" y="687562"/>
                </a:lnTo>
                <a:lnTo>
                  <a:pt x="0" y="687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5" r="0" b="-195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90598" y="9385211"/>
            <a:ext cx="1796129" cy="470078"/>
            <a:chOff x="0" y="0"/>
            <a:chExt cx="2394839" cy="626770"/>
          </a:xfrm>
        </p:grpSpPr>
        <p:sp>
          <p:nvSpPr>
            <p:cNvPr name="Freeform 6" id="6" descr="Изображение выглядит как черный, снимок экрана, темнота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2394839" cy="626745"/>
            </a:xfrm>
            <a:custGeom>
              <a:avLst/>
              <a:gdLst/>
              <a:ahLst/>
              <a:cxnLst/>
              <a:rect r="r" b="b" t="t" l="l"/>
              <a:pathLst>
                <a:path h="626745" w="2394839">
                  <a:moveTo>
                    <a:pt x="0" y="0"/>
                  </a:moveTo>
                  <a:lnTo>
                    <a:pt x="2394839" y="0"/>
                  </a:lnTo>
                  <a:lnTo>
                    <a:pt x="2394839" y="626745"/>
                  </a:lnTo>
                  <a:lnTo>
                    <a:pt x="0" y="626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" r="0" b="-4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0306" y="1283198"/>
            <a:ext cx="762000" cy="28575"/>
            <a:chOff x="0" y="0"/>
            <a:chExt cx="1016000" cy="38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117878" y="1841489"/>
            <a:ext cx="8052244" cy="1096433"/>
            <a:chOff x="0" y="0"/>
            <a:chExt cx="2120756" cy="2887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0E3368">
                <a:alpha val="61961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5653" y="4708209"/>
            <a:ext cx="8052244" cy="1096433"/>
            <a:chOff x="0" y="0"/>
            <a:chExt cx="2120756" cy="2887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5653" y="3440326"/>
            <a:ext cx="8052244" cy="1096433"/>
            <a:chOff x="0" y="0"/>
            <a:chExt cx="2120756" cy="2887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5653" y="5976093"/>
            <a:ext cx="8052244" cy="1096433"/>
            <a:chOff x="0" y="0"/>
            <a:chExt cx="2120756" cy="2887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069558" y="7466044"/>
            <a:ext cx="8052244" cy="1096433"/>
            <a:chOff x="0" y="0"/>
            <a:chExt cx="2120756" cy="2887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07055" y="4708209"/>
            <a:ext cx="8052244" cy="1096433"/>
            <a:chOff x="0" y="0"/>
            <a:chExt cx="2120756" cy="2887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207055" y="3440326"/>
            <a:ext cx="8052244" cy="1096433"/>
            <a:chOff x="0" y="0"/>
            <a:chExt cx="2120756" cy="2887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207055" y="5976093"/>
            <a:ext cx="8052244" cy="1096433"/>
            <a:chOff x="0" y="0"/>
            <a:chExt cx="2120756" cy="2887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20756" cy="288773"/>
            </a:xfrm>
            <a:custGeom>
              <a:avLst/>
              <a:gdLst/>
              <a:ahLst/>
              <a:cxnLst/>
              <a:rect r="r" b="b" t="t" l="l"/>
              <a:pathLst>
                <a:path h="288773" w="2120756">
                  <a:moveTo>
                    <a:pt x="0" y="0"/>
                  </a:moveTo>
                  <a:lnTo>
                    <a:pt x="2120756" y="0"/>
                  </a:lnTo>
                  <a:lnTo>
                    <a:pt x="2120756" y="288773"/>
                  </a:lnTo>
                  <a:lnTo>
                    <a:pt x="0" y="288773"/>
                  </a:lnTo>
                  <a:close/>
                </a:path>
              </a:pathLst>
            </a:custGeom>
            <a:solidFill>
              <a:srgbClr val="F4F8F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28575"/>
              <a:ext cx="2120756" cy="260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6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-3337179">
            <a:off x="3682322" y="7011742"/>
            <a:ext cx="872398" cy="1557854"/>
          </a:xfrm>
          <a:custGeom>
            <a:avLst/>
            <a:gdLst/>
            <a:ahLst/>
            <a:cxnLst/>
            <a:rect r="r" b="b" t="t" l="l"/>
            <a:pathLst>
              <a:path h="1557854" w="872398">
                <a:moveTo>
                  <a:pt x="0" y="0"/>
                </a:moveTo>
                <a:lnTo>
                  <a:pt x="872398" y="0"/>
                </a:lnTo>
                <a:lnTo>
                  <a:pt x="872398" y="1557853"/>
                </a:lnTo>
                <a:lnTo>
                  <a:pt x="0" y="15578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516346" y="6286976"/>
            <a:ext cx="7600417" cy="360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  <a:spcBef>
                <a:spcPct val="0"/>
              </a:spcBef>
            </a:pPr>
            <a:r>
              <a:rPr lang="en-US" b="true" sz="2617" spc="-41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текущая сессия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72516" y="6363352"/>
            <a:ext cx="7600417" cy="360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  <a:spcBef>
                <a:spcPct val="0"/>
              </a:spcBef>
            </a:pPr>
            <a:r>
              <a:rPr lang="en-US" b="true" sz="2617" spc="-41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другие сесиии</a:t>
            </a:r>
          </a:p>
        </p:txBody>
      </p:sp>
      <p:sp>
        <p:nvSpPr>
          <p:cNvPr name="Freeform 36" id="36"/>
          <p:cNvSpPr/>
          <p:nvPr/>
        </p:nvSpPr>
        <p:spPr>
          <a:xfrm flipH="false" flipV="true" rot="-7237980">
            <a:off x="13689465" y="7011742"/>
            <a:ext cx="872398" cy="1557854"/>
          </a:xfrm>
          <a:custGeom>
            <a:avLst/>
            <a:gdLst/>
            <a:ahLst/>
            <a:cxnLst/>
            <a:rect r="r" b="b" t="t" l="l"/>
            <a:pathLst>
              <a:path h="1557854" w="872398">
                <a:moveTo>
                  <a:pt x="0" y="1557853"/>
                </a:moveTo>
                <a:lnTo>
                  <a:pt x="872398" y="1557853"/>
                </a:lnTo>
                <a:lnTo>
                  <a:pt x="872398" y="0"/>
                </a:lnTo>
                <a:lnTo>
                  <a:pt x="0" y="0"/>
                </a:lnTo>
                <a:lnTo>
                  <a:pt x="0" y="155785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6971940" y="9483728"/>
            <a:ext cx="29991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5653" y="589786"/>
            <a:ext cx="10838855" cy="46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b="true" sz="3600" spc="3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ЭЭГ: классификация и адаптация к сессии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20042" y="2117891"/>
            <a:ext cx="7151277" cy="50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  <a:spcBef>
                <a:spcPct val="0"/>
              </a:spcBef>
            </a:pPr>
            <a:r>
              <a:rPr lang="en-US" b="true" sz="3673" spc="517">
                <a:solidFill>
                  <a:srgbClr val="FAFAFA"/>
                </a:solidFill>
                <a:latin typeface="Inter Bold"/>
                <a:ea typeface="Inter Bold"/>
                <a:cs typeface="Inter Bold"/>
                <a:sym typeface="Inter Bold"/>
              </a:rPr>
              <a:t>396 EEG признаков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46996" y="3857161"/>
            <a:ext cx="5069558" cy="40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6"/>
              </a:lnSpc>
              <a:spcBef>
                <a:spcPct val="0"/>
              </a:spcBef>
            </a:pPr>
            <a:r>
              <a:rPr lang="en-US" b="true" sz="2873" spc="-45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SESSION MODEL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686727" y="5095469"/>
            <a:ext cx="7600417" cy="360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  <a:spcBef>
                <a:spcPct val="0"/>
              </a:spcBef>
            </a:pPr>
            <a:r>
              <a:rPr lang="en-US" b="true" sz="2617" spc="-41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sLDA + MDM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96511" y="3753518"/>
            <a:ext cx="5069558" cy="40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6"/>
              </a:lnSpc>
              <a:spcBef>
                <a:spcPct val="0"/>
              </a:spcBef>
            </a:pPr>
            <a:r>
              <a:rPr lang="en-US" b="true" sz="2873" spc="-45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GLOBAL MODEL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875361" y="5095469"/>
            <a:ext cx="7600417" cy="360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  <a:spcBef>
                <a:spcPct val="0"/>
              </a:spcBef>
            </a:pPr>
            <a:r>
              <a:rPr lang="en-US" b="true" sz="2617" spc="-41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Logistic Regression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322625" y="7873934"/>
            <a:ext cx="11325750" cy="141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617" spc="-41" b="true">
                <a:solidFill>
                  <a:srgbClr val="0E3368"/>
                </a:solidFill>
                <a:latin typeface="Inter Medium"/>
                <a:ea typeface="Inter Medium"/>
                <a:cs typeface="Inter Medium"/>
                <a:sym typeface="Inter Medium"/>
              </a:rPr>
              <a:t>классификация: покой, левая рука, правая рука</a:t>
            </a: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4"/>
              </a:lnSpc>
            </a:pPr>
          </a:p>
          <a:p>
            <a:pPr algn="l">
              <a:lnSpc>
                <a:spcPts val="277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1473698"/>
            <a:ext cx="762000" cy="28575"/>
            <a:chOff x="0" y="0"/>
            <a:chExt cx="1016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0" y="444103"/>
            <a:ext cx="2482853" cy="679847"/>
            <a:chOff x="0" y="0"/>
            <a:chExt cx="3310471" cy="906462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3310509" cy="906399"/>
            </a:xfrm>
            <a:custGeom>
              <a:avLst/>
              <a:gdLst/>
              <a:ahLst/>
              <a:cxnLst/>
              <a:rect r="r" b="b" t="t" l="l"/>
              <a:pathLst>
                <a:path h="906399" w="3310509">
                  <a:moveTo>
                    <a:pt x="0" y="0"/>
                  </a:moveTo>
                  <a:lnTo>
                    <a:pt x="3310509" y="0"/>
                  </a:lnTo>
                  <a:lnTo>
                    <a:pt x="3310509" y="906399"/>
                  </a:lnTo>
                  <a:lnTo>
                    <a:pt x="0" y="906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-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08770" y="9263772"/>
            <a:ext cx="690248" cy="687562"/>
          </a:xfrm>
          <a:custGeom>
            <a:avLst/>
            <a:gdLst/>
            <a:ahLst/>
            <a:cxnLst/>
            <a:rect r="r" b="b" t="t" l="l"/>
            <a:pathLst>
              <a:path h="687562" w="690248">
                <a:moveTo>
                  <a:pt x="0" y="0"/>
                </a:moveTo>
                <a:lnTo>
                  <a:pt x="690248" y="0"/>
                </a:lnTo>
                <a:lnTo>
                  <a:pt x="690248" y="687562"/>
                </a:lnTo>
                <a:lnTo>
                  <a:pt x="0" y="687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5" r="0" b="-19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50813" y="9377986"/>
            <a:ext cx="1796129" cy="470078"/>
            <a:chOff x="0" y="0"/>
            <a:chExt cx="2394839" cy="626770"/>
          </a:xfrm>
        </p:grpSpPr>
        <p:sp>
          <p:nvSpPr>
            <p:cNvPr name="Freeform 8" id="8" descr="Изображение выглядит как черный, снимок экрана, темнота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2394839" cy="626745"/>
            </a:xfrm>
            <a:custGeom>
              <a:avLst/>
              <a:gdLst/>
              <a:ahLst/>
              <a:cxnLst/>
              <a:rect r="r" b="b" t="t" l="l"/>
              <a:pathLst>
                <a:path h="626745" w="2394839">
                  <a:moveTo>
                    <a:pt x="0" y="0"/>
                  </a:moveTo>
                  <a:lnTo>
                    <a:pt x="2394839" y="0"/>
                  </a:lnTo>
                  <a:lnTo>
                    <a:pt x="2394839" y="626745"/>
                  </a:lnTo>
                  <a:lnTo>
                    <a:pt x="0" y="626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" r="0" b="-4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8770" y="2862156"/>
            <a:ext cx="8031025" cy="3024423"/>
            <a:chOff x="0" y="0"/>
            <a:chExt cx="1914353" cy="7209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4353" cy="720931"/>
            </a:xfrm>
            <a:custGeom>
              <a:avLst/>
              <a:gdLst/>
              <a:ahLst/>
              <a:cxnLst/>
              <a:rect r="r" b="b" t="t" l="l"/>
              <a:pathLst>
                <a:path h="720931" w="1914353">
                  <a:moveTo>
                    <a:pt x="0" y="0"/>
                  </a:moveTo>
                  <a:lnTo>
                    <a:pt x="1914353" y="0"/>
                  </a:lnTo>
                  <a:lnTo>
                    <a:pt x="1914353" y="720931"/>
                  </a:lnTo>
                  <a:lnTo>
                    <a:pt x="0" y="720931"/>
                  </a:ln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14353" cy="768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6479" y="4975117"/>
            <a:ext cx="2005426" cy="639635"/>
            <a:chOff x="0" y="0"/>
            <a:chExt cx="478033" cy="1524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8033" cy="152469"/>
            </a:xfrm>
            <a:custGeom>
              <a:avLst/>
              <a:gdLst/>
              <a:ahLst/>
              <a:cxnLst/>
              <a:rect r="r" b="b" t="t" l="l"/>
              <a:pathLst>
                <a:path h="152469" w="478033">
                  <a:moveTo>
                    <a:pt x="0" y="0"/>
                  </a:moveTo>
                  <a:lnTo>
                    <a:pt x="478033" y="0"/>
                  </a:lnTo>
                  <a:lnTo>
                    <a:pt x="478033" y="152469"/>
                  </a:lnTo>
                  <a:lnTo>
                    <a:pt x="0" y="152469"/>
                  </a:lnTo>
                  <a:close/>
                </a:path>
              </a:pathLst>
            </a:custGeom>
            <a:solidFill>
              <a:srgbClr val="006DFF">
                <a:alpha val="48627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478033" cy="11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73617" y="2829096"/>
            <a:ext cx="8031025" cy="3024423"/>
            <a:chOff x="0" y="0"/>
            <a:chExt cx="1914353" cy="7209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14353" cy="720931"/>
            </a:xfrm>
            <a:custGeom>
              <a:avLst/>
              <a:gdLst/>
              <a:ahLst/>
              <a:cxnLst/>
              <a:rect r="r" b="b" t="t" l="l"/>
              <a:pathLst>
                <a:path h="720931" w="1914353">
                  <a:moveTo>
                    <a:pt x="0" y="0"/>
                  </a:moveTo>
                  <a:lnTo>
                    <a:pt x="1914353" y="0"/>
                  </a:lnTo>
                  <a:lnTo>
                    <a:pt x="1914353" y="720931"/>
                  </a:lnTo>
                  <a:lnTo>
                    <a:pt x="0" y="720931"/>
                  </a:ln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914353" cy="768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86727" y="6209316"/>
            <a:ext cx="13851565" cy="3024423"/>
            <a:chOff x="0" y="0"/>
            <a:chExt cx="3301793" cy="7209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01793" cy="720931"/>
            </a:xfrm>
            <a:custGeom>
              <a:avLst/>
              <a:gdLst/>
              <a:ahLst/>
              <a:cxnLst/>
              <a:rect r="r" b="b" t="t" l="l"/>
              <a:pathLst>
                <a:path h="720931" w="3301793">
                  <a:moveTo>
                    <a:pt x="0" y="0"/>
                  </a:moveTo>
                  <a:lnTo>
                    <a:pt x="3301793" y="0"/>
                  </a:lnTo>
                  <a:lnTo>
                    <a:pt x="3301793" y="720931"/>
                  </a:lnTo>
                  <a:lnTo>
                    <a:pt x="0" y="720931"/>
                  </a:ln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5170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301793" cy="768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585118" y="1912379"/>
            <a:ext cx="662155" cy="185404"/>
          </a:xfrm>
          <a:custGeom>
            <a:avLst/>
            <a:gdLst/>
            <a:ahLst/>
            <a:cxnLst/>
            <a:rect r="r" b="b" t="t" l="l"/>
            <a:pathLst>
              <a:path h="185404" w="662155">
                <a:moveTo>
                  <a:pt x="0" y="0"/>
                </a:moveTo>
                <a:lnTo>
                  <a:pt x="662155" y="0"/>
                </a:lnTo>
                <a:lnTo>
                  <a:pt x="662155" y="185404"/>
                </a:lnTo>
                <a:lnTo>
                  <a:pt x="0" y="1854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211209" y="8498894"/>
            <a:ext cx="10075708" cy="447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3181" spc="381">
                <a:solidFill>
                  <a:srgbClr val="FAFAF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396  EEG-признаков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49649" y="4993774"/>
            <a:ext cx="2464317" cy="639635"/>
            <a:chOff x="0" y="0"/>
            <a:chExt cx="587418" cy="1524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7418" cy="152469"/>
            </a:xfrm>
            <a:custGeom>
              <a:avLst/>
              <a:gdLst/>
              <a:ahLst/>
              <a:cxnLst/>
              <a:rect r="r" b="b" t="t" l="l"/>
              <a:pathLst>
                <a:path h="152469" w="587418">
                  <a:moveTo>
                    <a:pt x="0" y="0"/>
                  </a:moveTo>
                  <a:lnTo>
                    <a:pt x="587418" y="0"/>
                  </a:lnTo>
                  <a:lnTo>
                    <a:pt x="587418" y="152469"/>
                  </a:lnTo>
                  <a:lnTo>
                    <a:pt x="0" y="152469"/>
                  </a:lnTo>
                  <a:close/>
                </a:path>
              </a:pathLst>
            </a:custGeom>
            <a:solidFill>
              <a:srgbClr val="006DFF">
                <a:alpha val="48627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38100"/>
              <a:ext cx="587418" cy="114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84747" y="8022264"/>
            <a:ext cx="4707983" cy="872468"/>
            <a:chOff x="0" y="0"/>
            <a:chExt cx="1122240" cy="2079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2240" cy="207970"/>
            </a:xfrm>
            <a:custGeom>
              <a:avLst/>
              <a:gdLst/>
              <a:ahLst/>
              <a:cxnLst/>
              <a:rect r="r" b="b" t="t" l="l"/>
              <a:pathLst>
                <a:path h="207970" w="1122240">
                  <a:moveTo>
                    <a:pt x="0" y="0"/>
                  </a:moveTo>
                  <a:lnTo>
                    <a:pt x="1122240" y="0"/>
                  </a:lnTo>
                  <a:lnTo>
                    <a:pt x="1122240" y="207970"/>
                  </a:lnTo>
                  <a:lnTo>
                    <a:pt x="0" y="207970"/>
                  </a:lnTo>
                  <a:close/>
                </a:path>
              </a:pathLst>
            </a:custGeom>
            <a:solidFill>
              <a:srgbClr val="006DFF">
                <a:alpha val="48627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38100"/>
              <a:ext cx="1122240" cy="169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2999712" y="8300985"/>
            <a:ext cx="604762" cy="169333"/>
          </a:xfrm>
          <a:custGeom>
            <a:avLst/>
            <a:gdLst/>
            <a:ahLst/>
            <a:cxnLst/>
            <a:rect r="r" b="b" t="t" l="l"/>
            <a:pathLst>
              <a:path h="169333" w="604762">
                <a:moveTo>
                  <a:pt x="0" y="0"/>
                </a:moveTo>
                <a:lnTo>
                  <a:pt x="604762" y="0"/>
                </a:lnTo>
                <a:lnTo>
                  <a:pt x="604762" y="169334"/>
                </a:lnTo>
                <a:lnTo>
                  <a:pt x="0" y="1693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73153" y="777878"/>
            <a:ext cx="11837314" cy="54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b="true" sz="4200" spc="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БИКС: динамика HbO и HbR во времени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951995" y="9483728"/>
            <a:ext cx="29575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2057" y="1856726"/>
            <a:ext cx="11660863" cy="33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9"/>
              </a:lnSpc>
            </a:pPr>
            <a:r>
              <a:rPr lang="en-US" sz="2600" spc="-9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Представление движения                изменение концентрации HbO и HbR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-1322287" y="2990466"/>
            <a:ext cx="7177858" cy="4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3223" spc="151">
                <a:solidFill>
                  <a:srgbClr val="6B94C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 /  Dynamics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79952" y="3562459"/>
            <a:ext cx="8136727" cy="41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b="true" sz="3112" spc="-49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направление изменения сигнала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8750" y="5084742"/>
            <a:ext cx="1639271" cy="44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3181" spc="-50">
                <a:solidFill>
                  <a:srgbClr val="FAFAF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slope / 4 сек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6479" y="4082864"/>
            <a:ext cx="7177858" cy="30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5"/>
              </a:lnSpc>
              <a:spcBef>
                <a:spcPct val="0"/>
              </a:spcBef>
            </a:pPr>
            <a:r>
              <a:rPr lang="en-US" b="true" sz="2260" spc="-36">
                <a:solidFill>
                  <a:srgbClr val="616B67"/>
                </a:solidFill>
                <a:latin typeface="Inter Medium"/>
                <a:ea typeface="Inter Medium"/>
                <a:cs typeface="Inter Medium"/>
                <a:sym typeface="Inter Medium"/>
              </a:rPr>
              <a:t>наклон HbO/HbR за последние 4 секунды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49649" y="3590998"/>
            <a:ext cx="7309651" cy="82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b="true" sz="3112" spc="-49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учитываем гемодинамическую задержку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19571" y="4473678"/>
            <a:ext cx="7177858" cy="306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5"/>
              </a:lnSpc>
              <a:spcBef>
                <a:spcPct val="0"/>
              </a:spcBef>
            </a:pPr>
            <a:r>
              <a:rPr lang="en-US" b="true" sz="2260" spc="-36">
                <a:solidFill>
                  <a:srgbClr val="616B67"/>
                </a:solidFill>
                <a:latin typeface="Inter Medium"/>
                <a:ea typeface="Inter Medium"/>
                <a:cs typeface="Inter Medium"/>
                <a:sym typeface="Inter Medium"/>
              </a:rPr>
              <a:t>признаки из нескольких моментов прошлого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93638" y="2990466"/>
            <a:ext cx="7177858" cy="4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3223" spc="151">
                <a:solidFill>
                  <a:srgbClr val="6B94C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02/ history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79952" y="6362829"/>
            <a:ext cx="11475556" cy="45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6"/>
              </a:lnSpc>
              <a:spcBef>
                <a:spcPct val="0"/>
              </a:spcBef>
            </a:pPr>
            <a:r>
              <a:rPr lang="en-US" sz="3223" spc="319">
                <a:solidFill>
                  <a:srgbClr val="6B94C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03/ Lateral Contrasts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367" y="7137378"/>
            <a:ext cx="13008541" cy="41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b="true" sz="3112" spc="-49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различия между полушариями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181794" y="7633771"/>
            <a:ext cx="6600773" cy="602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5"/>
              </a:lnSpc>
              <a:spcBef>
                <a:spcPct val="0"/>
              </a:spcBef>
            </a:pPr>
            <a:r>
              <a:rPr lang="en-US" b="true" sz="2260" spc="-36">
                <a:solidFill>
                  <a:srgbClr val="616B67"/>
                </a:solidFill>
                <a:latin typeface="Inter Medium"/>
                <a:ea typeface="Inter Medium"/>
                <a:cs typeface="Inter Medium"/>
                <a:sym typeface="Inter Medium"/>
              </a:rPr>
              <a:t>контрасты между симметричными областями левого и правого полушария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18274" y="5103398"/>
            <a:ext cx="2127066" cy="44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3181" spc="-50">
                <a:solidFill>
                  <a:srgbClr val="FAFAF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 / 2  / 4  /  6  сек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841355" y="8241339"/>
            <a:ext cx="4594768" cy="447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  <a:spcBef>
                <a:spcPct val="0"/>
              </a:spcBef>
            </a:pPr>
            <a:r>
              <a:rPr lang="en-US" sz="3181" spc="216">
                <a:solidFill>
                  <a:srgbClr val="FAFAF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sLDA          NIRS prediction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1473698"/>
            <a:ext cx="762000" cy="28575"/>
            <a:chOff x="0" y="0"/>
            <a:chExt cx="1016000" cy="3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0" cy="38100"/>
            </a:xfrm>
            <a:custGeom>
              <a:avLst/>
              <a:gdLst/>
              <a:ahLst/>
              <a:cxnLst/>
              <a:rect r="r" b="b" t="t" l="l"/>
              <a:pathLst>
                <a:path h="381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0" y="444103"/>
            <a:ext cx="2482853" cy="679847"/>
            <a:chOff x="0" y="0"/>
            <a:chExt cx="3310471" cy="906462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3310509" cy="906399"/>
            </a:xfrm>
            <a:custGeom>
              <a:avLst/>
              <a:gdLst/>
              <a:ahLst/>
              <a:cxnLst/>
              <a:rect r="r" b="b" t="t" l="l"/>
              <a:pathLst>
                <a:path h="906399" w="3310509">
                  <a:moveTo>
                    <a:pt x="0" y="0"/>
                  </a:moveTo>
                  <a:lnTo>
                    <a:pt x="3310509" y="0"/>
                  </a:lnTo>
                  <a:lnTo>
                    <a:pt x="3310509" y="906399"/>
                  </a:lnTo>
                  <a:lnTo>
                    <a:pt x="0" y="906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-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92057" y="9262186"/>
            <a:ext cx="690248" cy="687562"/>
          </a:xfrm>
          <a:custGeom>
            <a:avLst/>
            <a:gdLst/>
            <a:ahLst/>
            <a:cxnLst/>
            <a:rect r="r" b="b" t="t" l="l"/>
            <a:pathLst>
              <a:path h="687562" w="690248">
                <a:moveTo>
                  <a:pt x="0" y="0"/>
                </a:moveTo>
                <a:lnTo>
                  <a:pt x="690249" y="0"/>
                </a:lnTo>
                <a:lnTo>
                  <a:pt x="690249" y="687562"/>
                </a:lnTo>
                <a:lnTo>
                  <a:pt x="0" y="687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5" r="0" b="-19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90598" y="9385211"/>
            <a:ext cx="1796129" cy="470078"/>
            <a:chOff x="0" y="0"/>
            <a:chExt cx="2394839" cy="626770"/>
          </a:xfrm>
        </p:grpSpPr>
        <p:sp>
          <p:nvSpPr>
            <p:cNvPr name="Freeform 8" id="8" descr="Изображение выглядит как черный, снимок экрана, темнота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2394839" cy="626745"/>
            </a:xfrm>
            <a:custGeom>
              <a:avLst/>
              <a:gdLst/>
              <a:ahLst/>
              <a:cxnLst/>
              <a:rect r="r" b="b" t="t" l="l"/>
              <a:pathLst>
                <a:path h="626745" w="2394839">
                  <a:moveTo>
                    <a:pt x="0" y="0"/>
                  </a:moveTo>
                  <a:lnTo>
                    <a:pt x="2394839" y="0"/>
                  </a:lnTo>
                  <a:lnTo>
                    <a:pt x="2394839" y="626745"/>
                  </a:lnTo>
                  <a:lnTo>
                    <a:pt x="0" y="626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4" r="0" b="-4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8250" y="2187972"/>
            <a:ext cx="4661260" cy="3247677"/>
            <a:chOff x="0" y="0"/>
            <a:chExt cx="1399035" cy="9747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9035" cy="974761"/>
            </a:xfrm>
            <a:custGeom>
              <a:avLst/>
              <a:gdLst/>
              <a:ahLst/>
              <a:cxnLst/>
              <a:rect r="r" b="b" t="t" l="l"/>
              <a:pathLst>
                <a:path h="974761" w="1399035">
                  <a:moveTo>
                    <a:pt x="0" y="0"/>
                  </a:moveTo>
                  <a:lnTo>
                    <a:pt x="1399035" y="0"/>
                  </a:lnTo>
                  <a:lnTo>
                    <a:pt x="1399035" y="974761"/>
                  </a:lnTo>
                  <a:lnTo>
                    <a:pt x="0" y="974761"/>
                  </a:ln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006D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99035" cy="1022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73521" y="2187972"/>
            <a:ext cx="4534260" cy="3247677"/>
            <a:chOff x="0" y="0"/>
            <a:chExt cx="1360917" cy="9747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0917" cy="974761"/>
            </a:xfrm>
            <a:custGeom>
              <a:avLst/>
              <a:gdLst/>
              <a:ahLst/>
              <a:cxnLst/>
              <a:rect r="r" b="b" t="t" l="l"/>
              <a:pathLst>
                <a:path h="974761" w="1360917">
                  <a:moveTo>
                    <a:pt x="0" y="0"/>
                  </a:moveTo>
                  <a:lnTo>
                    <a:pt x="1360917" y="0"/>
                  </a:lnTo>
                  <a:lnTo>
                    <a:pt x="1360917" y="974761"/>
                  </a:lnTo>
                  <a:lnTo>
                    <a:pt x="0" y="974761"/>
                  </a:ln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006D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60917" cy="1022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79306" y="2187972"/>
            <a:ext cx="4576593" cy="3247677"/>
            <a:chOff x="0" y="0"/>
            <a:chExt cx="1373623" cy="9747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3623" cy="974761"/>
            </a:xfrm>
            <a:custGeom>
              <a:avLst/>
              <a:gdLst/>
              <a:ahLst/>
              <a:cxnLst/>
              <a:rect r="r" b="b" t="t" l="l"/>
              <a:pathLst>
                <a:path h="974761" w="1373623">
                  <a:moveTo>
                    <a:pt x="0" y="0"/>
                  </a:moveTo>
                  <a:lnTo>
                    <a:pt x="1373623" y="0"/>
                  </a:lnTo>
                  <a:lnTo>
                    <a:pt x="1373623" y="974761"/>
                  </a:lnTo>
                  <a:lnTo>
                    <a:pt x="0" y="974761"/>
                  </a:ln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006D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73623" cy="10223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8250" y="6246215"/>
            <a:ext cx="15317650" cy="2257992"/>
            <a:chOff x="0" y="0"/>
            <a:chExt cx="3651263" cy="5382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51263" cy="538237"/>
            </a:xfrm>
            <a:custGeom>
              <a:avLst/>
              <a:gdLst/>
              <a:ahLst/>
              <a:cxnLst/>
              <a:rect r="r" b="b" t="t" l="l"/>
              <a:pathLst>
                <a:path h="538237" w="3651263">
                  <a:moveTo>
                    <a:pt x="0" y="0"/>
                  </a:moveTo>
                  <a:lnTo>
                    <a:pt x="3651263" y="0"/>
                  </a:lnTo>
                  <a:lnTo>
                    <a:pt x="3651263" y="538237"/>
                  </a:lnTo>
                  <a:lnTo>
                    <a:pt x="0" y="538237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6D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3651263" cy="5001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74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542429" y="6636740"/>
            <a:ext cx="1349164" cy="1515915"/>
          </a:xfrm>
          <a:custGeom>
            <a:avLst/>
            <a:gdLst/>
            <a:ahLst/>
            <a:cxnLst/>
            <a:rect r="r" b="b" t="t" l="l"/>
            <a:pathLst>
              <a:path h="1515915" w="1349164">
                <a:moveTo>
                  <a:pt x="0" y="0"/>
                </a:moveTo>
                <a:lnTo>
                  <a:pt x="1349164" y="0"/>
                </a:lnTo>
                <a:lnTo>
                  <a:pt x="1349164" y="1515915"/>
                </a:lnTo>
                <a:lnTo>
                  <a:pt x="0" y="15159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73153" y="777878"/>
            <a:ext cx="9484995" cy="54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b="true" sz="4200" spc="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Fusion: объединяем ЭЭГ и БИКС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951995" y="9483728"/>
            <a:ext cx="30599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spc="132">
                <a:solidFill>
                  <a:srgbClr val="6B94CB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-190500" y="2846054"/>
            <a:ext cx="7177858" cy="61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2"/>
              </a:lnSpc>
              <a:spcBef>
                <a:spcPct val="0"/>
              </a:spcBef>
            </a:pPr>
            <a:r>
              <a:rPr lang="en-US" sz="4323" spc="203">
                <a:solidFill>
                  <a:srgbClr val="006D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01 /  late fusion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64571" y="2846054"/>
            <a:ext cx="7177858" cy="61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9"/>
              </a:lnSpc>
              <a:spcBef>
                <a:spcPct val="0"/>
              </a:spcBef>
            </a:pPr>
            <a:r>
              <a:rPr lang="en-US" sz="4320" spc="203">
                <a:solidFill>
                  <a:srgbClr val="006D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02 /  weighting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78674" y="2846054"/>
            <a:ext cx="7177858" cy="578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7"/>
              </a:lnSpc>
              <a:spcBef>
                <a:spcPct val="0"/>
              </a:spcBef>
            </a:pPr>
            <a:r>
              <a:rPr lang="en-US" sz="4120" spc="193">
                <a:solidFill>
                  <a:srgbClr val="006D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03 /  Final Prediction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1806" y="3706876"/>
            <a:ext cx="5300394" cy="82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b="true" sz="3112" spc="-49">
                <a:solidFill>
                  <a:srgbClr val="0E3368"/>
                </a:solidFill>
                <a:latin typeface="Inter Bold"/>
                <a:ea typeface="Inter Bold"/>
                <a:cs typeface="Inter Bold"/>
                <a:sym typeface="Inter Bold"/>
              </a:rPr>
              <a:t>объединяем решения моделей EEG и NIRS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42036" y="3858373"/>
            <a:ext cx="3712894" cy="82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  <a:spcBef>
                <a:spcPct val="0"/>
              </a:spcBef>
            </a:pPr>
            <a:r>
              <a:rPr lang="en-US" b="true" sz="3112" spc="-49">
                <a:solidFill>
                  <a:srgbClr val="0E3368"/>
                </a:solidFill>
                <a:latin typeface="Inter Bold"/>
                <a:ea typeface="Inter Bold"/>
                <a:cs typeface="Inter Bold"/>
                <a:sym typeface="Inter Bold"/>
              </a:rPr>
              <a:t>0.8 EEG + 0.2 NIRS + (CSP)</a:t>
            </a:r>
            <a:r>
              <a:rPr lang="en-US" b="true" sz="3112" spc="-49">
                <a:solidFill>
                  <a:srgbClr val="0E3368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80013" y="3706876"/>
            <a:ext cx="3975179" cy="253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  <a:r>
              <a:rPr lang="en-US" sz="3204" spc="-51" b="true">
                <a:solidFill>
                  <a:srgbClr val="0E3368"/>
                </a:solidFill>
                <a:latin typeface="Inter Bold"/>
                <a:ea typeface="Inter Bold"/>
                <a:cs typeface="Inter Bold"/>
                <a:sym typeface="Inter Bold"/>
              </a:rPr>
              <a:t>fused scores,  session bias calibration, argmax</a:t>
            </a:r>
          </a:p>
          <a:p>
            <a:pPr algn="l">
              <a:lnSpc>
                <a:spcPts val="3396"/>
              </a:lnSpc>
            </a:pPr>
          </a:p>
          <a:p>
            <a:pPr algn="l">
              <a:lnSpc>
                <a:spcPts val="3396"/>
              </a:lnSpc>
            </a:pPr>
          </a:p>
          <a:p>
            <a:pPr algn="l">
              <a:lnSpc>
                <a:spcPts val="3396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141715" y="7100422"/>
            <a:ext cx="11886277" cy="67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4"/>
              </a:lnSpc>
              <a:spcBef>
                <a:spcPct val="0"/>
              </a:spcBef>
            </a:pPr>
            <a:r>
              <a:rPr lang="en-US" sz="4825" spc="226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итоговый балл модели за тест =</a:t>
            </a:r>
            <a:r>
              <a:rPr lang="en-US" sz="4825" spc="226">
                <a:solidFill>
                  <a:srgbClr val="006D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60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38575" y="446618"/>
            <a:ext cx="2574207" cy="704850"/>
            <a:chOff x="0" y="0"/>
            <a:chExt cx="3432277" cy="9398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3432302" cy="939800"/>
            </a:xfrm>
            <a:custGeom>
              <a:avLst/>
              <a:gdLst/>
              <a:ahLst/>
              <a:cxnLst/>
              <a:rect r="r" b="b" t="t" l="l"/>
              <a:pathLst>
                <a:path h="939800" w="3432302">
                  <a:moveTo>
                    <a:pt x="0" y="0"/>
                  </a:moveTo>
                  <a:lnTo>
                    <a:pt x="3432302" y="0"/>
                  </a:lnTo>
                  <a:lnTo>
                    <a:pt x="3432302" y="939800"/>
                  </a:lnTo>
                  <a:lnTo>
                    <a:pt x="0" y="939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750" y="3766166"/>
            <a:ext cx="914400" cy="38100"/>
            <a:chOff x="0" y="0"/>
            <a:chExt cx="1219200" cy="5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" cy="50800"/>
            </a:xfrm>
            <a:custGeom>
              <a:avLst/>
              <a:gdLst/>
              <a:ahLst/>
              <a:cxnLst/>
              <a:rect r="r" b="b" t="t" l="l"/>
              <a:pathLst>
                <a:path h="508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6D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3153" y="4296394"/>
            <a:ext cx="12703178" cy="154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0"/>
              </a:lnSpc>
            </a:pPr>
            <a:r>
              <a:rPr lang="en-US" b="true" sz="6000" spc="6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СПАСИБО ЗА ВНИМАНИЕ!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153" y="5294624"/>
            <a:ext cx="13569953" cy="126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sz="2400" b="true">
                <a:solidFill>
                  <a:srgbClr val="6B94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Контакты для связи</a:t>
            </a:r>
          </a:p>
          <a:p>
            <a:pPr algn="l">
              <a:lnSpc>
                <a:spcPts val="3424"/>
              </a:lnSpc>
            </a:pPr>
          </a:p>
          <a:p>
            <a:pPr algn="l">
              <a:lnSpc>
                <a:spcPts val="3426"/>
              </a:lnSpc>
            </a:pPr>
            <a:r>
              <a:rPr lang="en-US" sz="2400" b="true">
                <a:solidFill>
                  <a:srgbClr val="6B94C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Telegram: @egornak  @nlHASD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281308" y="8805272"/>
            <a:ext cx="959720" cy="959720"/>
            <a:chOff x="0" y="0"/>
            <a:chExt cx="1279627" cy="1279627"/>
          </a:xfrm>
        </p:grpSpPr>
        <p:sp>
          <p:nvSpPr>
            <p:cNvPr name="Freeform 11" id="11" descr="Изображение выглядит как символ, силуэт, Графика, круг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1279652" cy="1279652"/>
            </a:xfrm>
            <a:custGeom>
              <a:avLst/>
              <a:gdLst/>
              <a:ahLst/>
              <a:cxnLst/>
              <a:rect r="r" b="b" t="t" l="l"/>
              <a:pathLst>
                <a:path h="1279652" w="1279652">
                  <a:moveTo>
                    <a:pt x="0" y="0"/>
                  </a:moveTo>
                  <a:lnTo>
                    <a:pt x="1279652" y="0"/>
                  </a:lnTo>
                  <a:lnTo>
                    <a:pt x="1279652" y="1279652"/>
                  </a:lnTo>
                  <a:lnTo>
                    <a:pt x="0" y="1279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538960" y="8911247"/>
            <a:ext cx="2841965" cy="743798"/>
            <a:chOff x="0" y="0"/>
            <a:chExt cx="3789286" cy="991730"/>
          </a:xfrm>
        </p:grpSpPr>
        <p:sp>
          <p:nvSpPr>
            <p:cNvPr name="Freeform 13" id="13" descr="Изображение выглядит как Шрифт, текст, Графика, логотип  Контент, сгенерированный ИИ, может содержать ошибки."/>
            <p:cNvSpPr/>
            <p:nvPr/>
          </p:nvSpPr>
          <p:spPr>
            <a:xfrm flipH="false" flipV="false" rot="0">
              <a:off x="0" y="0"/>
              <a:ext cx="3789299" cy="991743"/>
            </a:xfrm>
            <a:custGeom>
              <a:avLst/>
              <a:gdLst/>
              <a:ahLst/>
              <a:cxnLst/>
              <a:rect r="r" b="b" t="t" l="l"/>
              <a:pathLst>
                <a:path h="991743" w="3789299">
                  <a:moveTo>
                    <a:pt x="0" y="0"/>
                  </a:moveTo>
                  <a:lnTo>
                    <a:pt x="3789299" y="0"/>
                  </a:lnTo>
                  <a:lnTo>
                    <a:pt x="3789299" y="991743"/>
                  </a:lnTo>
                  <a:lnTo>
                    <a:pt x="0" y="991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3" r="0" b="-43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DAHWYS5ntgo</dc:identifier>
  <dcterms:modified xsi:type="dcterms:W3CDTF">2011-08-01T06:04:30Z</dcterms:modified>
  <cp:revision>1</cp:revision>
  <dc:title>Шаблон_защита проекта.pptx</dc:title>
</cp:coreProperties>
</file>